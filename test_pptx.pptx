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7" r:id="rId3"/>
    <p:sldId id="268" r:id="rId4"/>
    <p:sldId id="293" r:id="rId5"/>
    <p:sldId id="266" r:id="rId6"/>
    <p:sldId id="347" r:id="rId7"/>
    <p:sldId id="349" r:id="rId8"/>
    <p:sldId id="350" r:id="rId9"/>
    <p:sldId id="352" r:id="rId10"/>
    <p:sldId id="382" r:id="rId11"/>
    <p:sldId id="351" r:id="rId12"/>
    <p:sldId id="383" r:id="rId13"/>
    <p:sldId id="384" r:id="rId14"/>
    <p:sldId id="385" r:id="rId15"/>
    <p:sldId id="386" r:id="rId16"/>
    <p:sldId id="387" r:id="rId17"/>
    <p:sldId id="388" r:id="rId18"/>
    <p:sldId id="389" r:id="rId19"/>
    <p:sldId id="390" r:id="rId20"/>
    <p:sldId id="391" r:id="rId21"/>
    <p:sldId id="392" r:id="rId22"/>
    <p:sldId id="394" r:id="rId23"/>
    <p:sldId id="395" r:id="rId24"/>
    <p:sldId id="396" r:id="rId25"/>
    <p:sldId id="397" r:id="rId26"/>
    <p:sldId id="398" r:id="rId27"/>
    <p:sldId id="399" r:id="rId28"/>
    <p:sldId id="400" r:id="rId29"/>
    <p:sldId id="401" r:id="rId30"/>
    <p:sldId id="402" r:id="rId31"/>
    <p:sldId id="403" r:id="rId32"/>
    <p:sldId id="404" r:id="rId33"/>
  </p:sldIdLst>
  <p:sldSz cx="18288000" cy="10287000"/>
  <p:notesSz cx="6858000" cy="9144000"/>
  <p:custDataLst>
    <p:tags r:id="rId3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6CFC"/>
    <a:srgbClr val="F2F3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2269" autoAdjust="0"/>
  </p:normalViewPr>
  <p:slideViewPr>
    <p:cSldViewPr showGuides="1">
      <p:cViewPr varScale="1">
        <p:scale>
          <a:sx n="52" d="100"/>
          <a:sy n="52" d="100"/>
        </p:scale>
        <p:origin x="1070" y="72"/>
      </p:cViewPr>
      <p:guideLst>
        <p:guide orient="horz" pos="21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4" d="100"/>
          <a:sy n="64" d="100"/>
        </p:scale>
        <p:origin x="3192" y="8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gs" Target="tags/tag5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notesMaster" Target="notesMasters/notesMaster1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1A37C-E677-410B-B142-1FCDDEAFC8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492BE-88C9-47F6-932E-E1AAF7FBEF3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BA0926-0DB7-4757-A0B4-CB1BBE3C6D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7202B-CC87-4103-930E-4B1D10CE6ED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png"/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2"/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947" t="-51925" r="-15823" b="-14555"/>
            </a:stretch>
          </a:blipFill>
        </p:spPr>
      </p:sp>
      <p:grpSp>
        <p:nvGrpSpPr>
          <p:cNvPr id="19" name="Group 4"/>
          <p:cNvGrpSpPr/>
          <p:nvPr userDrawn="1"/>
        </p:nvGrpSpPr>
        <p:grpSpPr>
          <a:xfrm>
            <a:off x="6302014" y="5848387"/>
            <a:ext cx="5683973" cy="2372588"/>
            <a:chOff x="0" y="0"/>
            <a:chExt cx="7578630" cy="3163450"/>
          </a:xfrm>
        </p:grpSpPr>
        <p:sp>
          <p:nvSpPr>
            <p:cNvPr id="20" name="Freeform 5"/>
            <p:cNvSpPr/>
            <p:nvPr/>
          </p:nvSpPr>
          <p:spPr>
            <a:xfrm>
              <a:off x="0" y="0"/>
              <a:ext cx="7578630" cy="3163450"/>
            </a:xfrm>
            <a:custGeom>
              <a:avLst/>
              <a:gdLst/>
              <a:ahLst/>
              <a:cxnLst/>
              <a:rect l="l" t="t" r="r" b="b"/>
              <a:pathLst>
                <a:path w="7578630" h="3163450">
                  <a:moveTo>
                    <a:pt x="0" y="0"/>
                  </a:moveTo>
                  <a:lnTo>
                    <a:pt x="7578630" y="0"/>
                  </a:lnTo>
                  <a:lnTo>
                    <a:pt x="7578630" y="3163450"/>
                  </a:lnTo>
                  <a:lnTo>
                    <a:pt x="0" y="3163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grpSp>
          <p:nvGrpSpPr>
            <p:cNvPr id="21" name="Group 6"/>
            <p:cNvGrpSpPr/>
            <p:nvPr/>
          </p:nvGrpSpPr>
          <p:grpSpPr>
            <a:xfrm>
              <a:off x="201841" y="745412"/>
              <a:ext cx="7174947" cy="1672627"/>
              <a:chOff x="0" y="0"/>
              <a:chExt cx="666979" cy="155487"/>
            </a:xfrm>
          </p:grpSpPr>
          <p:sp>
            <p:nvSpPr>
              <p:cNvPr id="23" name="Freeform 7"/>
              <p:cNvSpPr/>
              <p:nvPr/>
            </p:nvSpPr>
            <p:spPr>
              <a:xfrm>
                <a:off x="0" y="0"/>
                <a:ext cx="666979" cy="155487"/>
              </a:xfrm>
              <a:custGeom>
                <a:avLst/>
                <a:gdLst/>
                <a:ahLst/>
                <a:cxnLst/>
                <a:rect l="l" t="t" r="r" b="b"/>
                <a:pathLst>
                  <a:path w="666979" h="155487">
                    <a:moveTo>
                      <a:pt x="77743" y="0"/>
                    </a:moveTo>
                    <a:lnTo>
                      <a:pt x="589236" y="0"/>
                    </a:lnTo>
                    <a:cubicBezTo>
                      <a:pt x="609855" y="0"/>
                      <a:pt x="629629" y="8191"/>
                      <a:pt x="644209" y="22770"/>
                    </a:cubicBezTo>
                    <a:cubicBezTo>
                      <a:pt x="658789" y="37350"/>
                      <a:pt x="666979" y="57124"/>
                      <a:pt x="666979" y="77743"/>
                    </a:cubicBezTo>
                    <a:lnTo>
                      <a:pt x="666979" y="77743"/>
                    </a:lnTo>
                    <a:cubicBezTo>
                      <a:pt x="666979" y="120680"/>
                      <a:pt x="632173" y="155487"/>
                      <a:pt x="589236" y="155487"/>
                    </a:cubicBezTo>
                    <a:lnTo>
                      <a:pt x="77743" y="155487"/>
                    </a:lnTo>
                    <a:cubicBezTo>
                      <a:pt x="34807" y="155487"/>
                      <a:pt x="0" y="120680"/>
                      <a:pt x="0" y="77743"/>
                    </a:cubicBezTo>
                    <a:lnTo>
                      <a:pt x="0" y="77743"/>
                    </a:lnTo>
                    <a:cubicBezTo>
                      <a:pt x="0" y="34807"/>
                      <a:pt x="34807" y="0"/>
                      <a:pt x="77743" y="0"/>
                    </a:cubicBezTo>
                    <a:close/>
                  </a:path>
                </a:pathLst>
              </a:custGeom>
              <a:solidFill>
                <a:srgbClr val="326CFC"/>
              </a:solidFill>
            </p:spPr>
          </p:sp>
          <p:sp>
            <p:nvSpPr>
              <p:cNvPr id="24" name="TextBox 8"/>
              <p:cNvSpPr txBox="1"/>
              <p:nvPr/>
            </p:nvSpPr>
            <p:spPr>
              <a:xfrm>
                <a:off x="0" y="-47625"/>
                <a:ext cx="666979" cy="203112"/>
              </a:xfrm>
              <a:prstGeom prst="rect">
                <a:avLst/>
              </a:prstGeom>
            </p:spPr>
            <p:txBody>
              <a:bodyPr lIns="68221" tIns="68221" rIns="68221" bIns="68221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22" name="TextBox 9"/>
            <p:cNvSpPr txBox="1"/>
            <p:nvPr/>
          </p:nvSpPr>
          <p:spPr>
            <a:xfrm>
              <a:off x="375514" y="1061518"/>
              <a:ext cx="6827602" cy="9402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950"/>
                </a:lnSpc>
              </a:pPr>
              <a:r>
                <a:rPr lang="en-US" sz="4250">
                  <a:solidFill>
                    <a:srgbClr val="FFFFFF"/>
                  </a:solidFill>
                  <a:latin typeface="思源黑体 1 Medium"/>
                  <a:ea typeface="思源黑体 1 Medium"/>
                </a:rPr>
                <a:t>信友队c++课程</a:t>
              </a:r>
              <a:endParaRPr lang="en-US" sz="4250">
                <a:solidFill>
                  <a:srgbClr val="FFFFFF"/>
                </a:solidFill>
                <a:latin typeface="思源黑体 1 Medium"/>
                <a:ea typeface="思源黑体 1 Medium"/>
              </a:endParaRPr>
            </a:p>
          </p:txBody>
        </p:sp>
      </p:grpSp>
      <p:pic>
        <p:nvPicPr>
          <p:cNvPr id="27" name="图片 26" descr="upload_post_object_v2_90813859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097149" y="0"/>
            <a:ext cx="7190851" cy="6693874"/>
          </a:xfrm>
          <a:prstGeom prst="rect">
            <a:avLst/>
          </a:prstGeom>
        </p:spPr>
      </p:pic>
      <p:pic>
        <p:nvPicPr>
          <p:cNvPr id="28" name="图片 27" descr="upload_post_object_v2_27759929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0584" y="1013094"/>
            <a:ext cx="2511374" cy="741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7299" y="4079055"/>
            <a:ext cx="15773400" cy="1988345"/>
          </a:xfrm>
        </p:spPr>
        <p:txBody>
          <a:bodyPr>
            <a:normAutofit/>
          </a:bodyPr>
          <a:lstStyle>
            <a:lvl1pPr algn="ctr">
              <a:defRPr sz="9600">
                <a:latin typeface="+mj-lt"/>
              </a:defRPr>
            </a:lvl1pPr>
          </a:lstStyle>
          <a:p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3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419599" y="3250644"/>
            <a:ext cx="9448800" cy="741001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rgbClr val="326CFC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algn="ctr">
              <a:lnSpc>
                <a:spcPts val="5435"/>
              </a:lnSpc>
            </a:pPr>
            <a:r>
              <a:rPr lang="en-US" altLang="zh-CN" sz="3600" dirty="0">
                <a:solidFill>
                  <a:srgbClr val="326CFC"/>
                </a:solidFill>
                <a:latin typeface="思源黑体 2 Heavy"/>
              </a:rPr>
              <a:t>BUBBLE SORT AND SELECTION SORT</a:t>
            </a:r>
            <a:endParaRPr lang="en-US" altLang="zh-CN" sz="3600" dirty="0">
              <a:solidFill>
                <a:srgbClr val="326CFC"/>
              </a:solidFill>
              <a:latin typeface="思源黑体 2 Heavy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8" grpId="0" build="p">
        <p:tmplLst>
          <p:tmpl lvl="1">
            <p:tnLst>
              <p:par>
                <p:cTn presetID="4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xyd-录播课ppt模板"/>
          <p:cNvPicPr>
            <a:picLocks noChangeAspect="1"/>
          </p:cNvPicPr>
          <p:nvPr userDrawn="1"/>
        </p:nvPicPr>
        <p:blipFill>
          <a:blip r:embed="rId2"/>
          <a:srcRect l="24149" t="34815"/>
          <a:stretch>
            <a:fillRect/>
          </a:stretch>
        </p:blipFill>
        <p:spPr>
          <a:xfrm>
            <a:off x="0" y="0"/>
            <a:ext cx="9573895" cy="6705600"/>
          </a:xfrm>
          <a:prstGeom prst="rect">
            <a:avLst/>
          </a:prstGeom>
        </p:spPr>
      </p:pic>
      <p:sp>
        <p:nvSpPr>
          <p:cNvPr id="8" name="TextBox 3"/>
          <p:cNvSpPr txBox="1"/>
          <p:nvPr userDrawn="1"/>
        </p:nvSpPr>
        <p:spPr>
          <a:xfrm>
            <a:off x="1896876" y="6415329"/>
            <a:ext cx="3955125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dirty="0">
                <a:solidFill>
                  <a:srgbClr val="326CFC"/>
                </a:solidFill>
                <a:latin typeface="思源黑体 2 Bold"/>
              </a:rPr>
              <a:t>Contents</a:t>
            </a:r>
            <a:endParaRPr lang="en-US" sz="5000" dirty="0">
              <a:solidFill>
                <a:srgbClr val="326CFC"/>
              </a:solidFill>
              <a:latin typeface="思源黑体 2 Bold"/>
            </a:endParaRPr>
          </a:p>
        </p:txBody>
      </p:sp>
      <p:sp>
        <p:nvSpPr>
          <p:cNvPr id="9" name="TextBox 4"/>
          <p:cNvSpPr txBox="1"/>
          <p:nvPr userDrawn="1"/>
        </p:nvSpPr>
        <p:spPr>
          <a:xfrm>
            <a:off x="2383111" y="4929429"/>
            <a:ext cx="2982655" cy="149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40"/>
              </a:lnSpc>
            </a:pPr>
            <a:r>
              <a:rPr lang="en-US" sz="9700" dirty="0">
                <a:solidFill>
                  <a:srgbClr val="262626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  <a:cs typeface="思源黑体 2 Heavy" charset="0"/>
              </a:rPr>
              <a:t>目录</a:t>
            </a:r>
            <a:endParaRPr lang="en-US" sz="9700" dirty="0">
              <a:solidFill>
                <a:srgbClr val="262626"/>
              </a:solidFill>
              <a:latin typeface="思源黑体 Medium" panose="020B0600000000000000" pitchFamily="34" charset="-122"/>
              <a:ea typeface="思源黑体 Medium" panose="020B0600000000000000" pitchFamily="34" charset="-122"/>
              <a:cs typeface="思源黑体 2 Heavy" charset="0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15744" y="1302686"/>
            <a:ext cx="9551614" cy="1920405"/>
            <a:chOff x="11836" y="2051"/>
            <a:chExt cx="15042" cy="3024"/>
          </a:xfrm>
        </p:grpSpPr>
        <p:sp>
          <p:nvSpPr>
            <p:cNvPr id="11" name="Freeform 5"/>
            <p:cNvSpPr/>
            <p:nvPr/>
          </p:nvSpPr>
          <p:spPr>
            <a:xfrm>
              <a:off x="14522" y="2051"/>
              <a:ext cx="12356" cy="3024"/>
            </a:xfrm>
            <a:custGeom>
              <a:avLst/>
              <a:gdLst/>
              <a:ahLst/>
              <a:cxnLst/>
              <a:rect l="l" t="t" r="r" b="b"/>
              <a:pathLst>
                <a:path w="7846232" h="1920406">
                  <a:moveTo>
                    <a:pt x="0" y="0"/>
                  </a:moveTo>
                  <a:lnTo>
                    <a:pt x="7846232" y="0"/>
                  </a:lnTo>
                  <a:lnTo>
                    <a:pt x="7846232" y="1920407"/>
                  </a:lnTo>
                  <a:lnTo>
                    <a:pt x="0" y="1920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2" name="Freeform 6"/>
            <p:cNvSpPr/>
            <p:nvPr/>
          </p:nvSpPr>
          <p:spPr>
            <a:xfrm>
              <a:off x="11836" y="2051"/>
              <a:ext cx="2967" cy="3024"/>
            </a:xfrm>
            <a:custGeom>
              <a:avLst/>
              <a:gdLst/>
              <a:ahLst/>
              <a:cxnLst/>
              <a:rect l="l" t="t" r="r" b="b"/>
              <a:pathLst>
                <a:path w="1883828" h="1920406">
                  <a:moveTo>
                    <a:pt x="0" y="0"/>
                  </a:moveTo>
                  <a:lnTo>
                    <a:pt x="1883827" y="0"/>
                  </a:lnTo>
                  <a:lnTo>
                    <a:pt x="1883827" y="1920407"/>
                  </a:lnTo>
                  <a:lnTo>
                    <a:pt x="0" y="1920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4" name="TextBox 8"/>
            <p:cNvSpPr txBox="1"/>
            <p:nvPr/>
          </p:nvSpPr>
          <p:spPr>
            <a:xfrm>
              <a:off x="12283" y="2836"/>
              <a:ext cx="2072" cy="1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20"/>
                </a:lnSpc>
              </a:pPr>
              <a:r>
                <a:rPr lang="en-US" sz="5600">
                  <a:solidFill>
                    <a:srgbClr val="326CFC"/>
                  </a:solidFill>
                  <a:latin typeface="思源黑体 2 Heavy"/>
                </a:rPr>
                <a:t>01</a:t>
              </a:r>
              <a:endParaRPr lang="en-US" sz="5600">
                <a:solidFill>
                  <a:srgbClr val="326CFC"/>
                </a:solidFill>
                <a:latin typeface="思源黑体 2 Heavy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7515744" y="3223093"/>
            <a:ext cx="9551614" cy="1920405"/>
            <a:chOff x="11836" y="5076"/>
            <a:chExt cx="15042" cy="3024"/>
          </a:xfrm>
        </p:grpSpPr>
        <p:sp>
          <p:nvSpPr>
            <p:cNvPr id="16" name="Freeform 9"/>
            <p:cNvSpPr/>
            <p:nvPr/>
          </p:nvSpPr>
          <p:spPr>
            <a:xfrm>
              <a:off x="14522" y="5076"/>
              <a:ext cx="12356" cy="3024"/>
            </a:xfrm>
            <a:custGeom>
              <a:avLst/>
              <a:gdLst/>
              <a:ahLst/>
              <a:cxnLst/>
              <a:rect l="l" t="t" r="r" b="b"/>
              <a:pathLst>
                <a:path w="7846232" h="1920406">
                  <a:moveTo>
                    <a:pt x="0" y="0"/>
                  </a:moveTo>
                  <a:lnTo>
                    <a:pt x="7846232" y="0"/>
                  </a:lnTo>
                  <a:lnTo>
                    <a:pt x="7846232" y="1920406"/>
                  </a:lnTo>
                  <a:lnTo>
                    <a:pt x="0" y="1920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7" name="Freeform 10"/>
            <p:cNvSpPr/>
            <p:nvPr/>
          </p:nvSpPr>
          <p:spPr>
            <a:xfrm>
              <a:off x="11836" y="5076"/>
              <a:ext cx="2967" cy="3024"/>
            </a:xfrm>
            <a:custGeom>
              <a:avLst/>
              <a:gdLst/>
              <a:ahLst/>
              <a:cxnLst/>
              <a:rect l="l" t="t" r="r" b="b"/>
              <a:pathLst>
                <a:path w="1883828" h="1920406">
                  <a:moveTo>
                    <a:pt x="0" y="0"/>
                  </a:moveTo>
                  <a:lnTo>
                    <a:pt x="1883827" y="0"/>
                  </a:lnTo>
                  <a:lnTo>
                    <a:pt x="1883827" y="1920406"/>
                  </a:lnTo>
                  <a:lnTo>
                    <a:pt x="0" y="1920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9" name="TextBox 12"/>
            <p:cNvSpPr txBox="1"/>
            <p:nvPr/>
          </p:nvSpPr>
          <p:spPr>
            <a:xfrm>
              <a:off x="12283" y="5860"/>
              <a:ext cx="2072" cy="1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20"/>
                </a:lnSpc>
              </a:pPr>
              <a:r>
                <a:rPr lang="en-US" sz="5600">
                  <a:solidFill>
                    <a:srgbClr val="326CFC"/>
                  </a:solidFill>
                  <a:latin typeface="思源黑体 2 Heavy"/>
                </a:rPr>
                <a:t>02</a:t>
              </a:r>
              <a:endParaRPr lang="en-US" sz="5600">
                <a:solidFill>
                  <a:srgbClr val="326CFC"/>
                </a:solidFill>
                <a:latin typeface="思源黑体 2 Heavy"/>
              </a:endParaRPr>
            </a:p>
          </p:txBody>
        </p:sp>
      </p:grpSp>
      <p:pic>
        <p:nvPicPr>
          <p:cNvPr id="30" name="图片 29" descr="upload_post_object_v2_156234910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6645" y="1129922"/>
            <a:ext cx="2639967" cy="758731"/>
          </a:xfrm>
          <a:prstGeom prst="rect">
            <a:avLst/>
          </a:prstGeom>
        </p:spPr>
      </p:pic>
      <p:sp>
        <p:nvSpPr>
          <p:cNvPr id="33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249580" y="1869692"/>
            <a:ext cx="4076020" cy="98780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400"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</a:lstStyle>
          <a:p>
            <a:pPr lvl="0"/>
            <a:r>
              <a:rPr lang="zh-CN" altLang="en-US" dirty="0"/>
              <a:t>温故知新</a:t>
            </a:r>
            <a:endParaRPr lang="zh-CN" altLang="en-US" dirty="0"/>
          </a:p>
        </p:txBody>
      </p:sp>
      <p:sp>
        <p:nvSpPr>
          <p:cNvPr id="35" name="文本占位符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249580" y="3832429"/>
            <a:ext cx="4076020" cy="93007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</a:lstStyle>
          <a:p>
            <a:pPr lvl="0"/>
            <a:r>
              <a:rPr lang="zh-CN" altLang="en-US" dirty="0"/>
              <a:t>新知讲解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xyd-录播课ppt模板"/>
          <p:cNvPicPr>
            <a:picLocks noChangeAspect="1"/>
          </p:cNvPicPr>
          <p:nvPr userDrawn="1"/>
        </p:nvPicPr>
        <p:blipFill>
          <a:blip r:embed="rId2"/>
          <a:srcRect l="24149" t="34815"/>
          <a:stretch>
            <a:fillRect/>
          </a:stretch>
        </p:blipFill>
        <p:spPr>
          <a:xfrm>
            <a:off x="0" y="0"/>
            <a:ext cx="9573895" cy="6705600"/>
          </a:xfrm>
          <a:prstGeom prst="rect">
            <a:avLst/>
          </a:prstGeom>
        </p:spPr>
      </p:pic>
      <p:sp>
        <p:nvSpPr>
          <p:cNvPr id="8" name="TextBox 3"/>
          <p:cNvSpPr txBox="1"/>
          <p:nvPr userDrawn="1"/>
        </p:nvSpPr>
        <p:spPr>
          <a:xfrm>
            <a:off x="1896876" y="6415329"/>
            <a:ext cx="3955125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dirty="0">
                <a:solidFill>
                  <a:srgbClr val="326CFC"/>
                </a:solidFill>
                <a:latin typeface="思源黑体 2 Bold"/>
              </a:rPr>
              <a:t>Contents</a:t>
            </a:r>
            <a:endParaRPr lang="en-US" sz="5000" dirty="0">
              <a:solidFill>
                <a:srgbClr val="326CFC"/>
              </a:solidFill>
              <a:latin typeface="思源黑体 2 Bold"/>
            </a:endParaRPr>
          </a:p>
        </p:txBody>
      </p:sp>
      <p:sp>
        <p:nvSpPr>
          <p:cNvPr id="9" name="TextBox 4"/>
          <p:cNvSpPr txBox="1"/>
          <p:nvPr userDrawn="1"/>
        </p:nvSpPr>
        <p:spPr>
          <a:xfrm>
            <a:off x="2383111" y="4929429"/>
            <a:ext cx="2982655" cy="149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40"/>
              </a:lnSpc>
            </a:pPr>
            <a:r>
              <a:rPr lang="en-US" sz="9700" dirty="0">
                <a:solidFill>
                  <a:srgbClr val="262626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  <a:cs typeface="思源黑体 2 Heavy" charset="0"/>
              </a:rPr>
              <a:t>目录</a:t>
            </a:r>
            <a:endParaRPr lang="en-US" sz="9700" dirty="0">
              <a:solidFill>
                <a:srgbClr val="262626"/>
              </a:solidFill>
              <a:latin typeface="思源黑体 Medium" panose="020B0600000000000000" pitchFamily="34" charset="-122"/>
              <a:ea typeface="思源黑体 Medium" panose="020B0600000000000000" pitchFamily="34" charset="-122"/>
              <a:cs typeface="思源黑体 2 Heavy" charset="0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15743" y="1302687"/>
            <a:ext cx="9551613" cy="1920406"/>
            <a:chOff x="11836" y="2051"/>
            <a:chExt cx="15042" cy="3024"/>
          </a:xfrm>
        </p:grpSpPr>
        <p:sp>
          <p:nvSpPr>
            <p:cNvPr id="11" name="Freeform 5"/>
            <p:cNvSpPr/>
            <p:nvPr/>
          </p:nvSpPr>
          <p:spPr>
            <a:xfrm>
              <a:off x="14522" y="2051"/>
              <a:ext cx="12356" cy="3024"/>
            </a:xfrm>
            <a:custGeom>
              <a:avLst/>
              <a:gdLst/>
              <a:ahLst/>
              <a:cxnLst/>
              <a:rect l="l" t="t" r="r" b="b"/>
              <a:pathLst>
                <a:path w="7846232" h="1920406">
                  <a:moveTo>
                    <a:pt x="0" y="0"/>
                  </a:moveTo>
                  <a:lnTo>
                    <a:pt x="7846232" y="0"/>
                  </a:lnTo>
                  <a:lnTo>
                    <a:pt x="7846232" y="1920407"/>
                  </a:lnTo>
                  <a:lnTo>
                    <a:pt x="0" y="1920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2" name="Freeform 6"/>
            <p:cNvSpPr/>
            <p:nvPr/>
          </p:nvSpPr>
          <p:spPr>
            <a:xfrm>
              <a:off x="11836" y="2051"/>
              <a:ext cx="2967" cy="3024"/>
            </a:xfrm>
            <a:custGeom>
              <a:avLst/>
              <a:gdLst/>
              <a:ahLst/>
              <a:cxnLst/>
              <a:rect l="l" t="t" r="r" b="b"/>
              <a:pathLst>
                <a:path w="1883828" h="1920406">
                  <a:moveTo>
                    <a:pt x="0" y="0"/>
                  </a:moveTo>
                  <a:lnTo>
                    <a:pt x="1883827" y="0"/>
                  </a:lnTo>
                  <a:lnTo>
                    <a:pt x="1883827" y="1920407"/>
                  </a:lnTo>
                  <a:lnTo>
                    <a:pt x="0" y="1920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4" name="TextBox 8"/>
            <p:cNvSpPr txBox="1"/>
            <p:nvPr/>
          </p:nvSpPr>
          <p:spPr>
            <a:xfrm>
              <a:off x="12283" y="2836"/>
              <a:ext cx="2072" cy="1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20"/>
                </a:lnSpc>
              </a:pPr>
              <a:r>
                <a:rPr lang="en-US" sz="5600">
                  <a:solidFill>
                    <a:srgbClr val="326CFC"/>
                  </a:solidFill>
                  <a:latin typeface="思源黑体 2 Heavy"/>
                </a:rPr>
                <a:t>01</a:t>
              </a:r>
              <a:endParaRPr lang="en-US" sz="5600">
                <a:solidFill>
                  <a:srgbClr val="326CFC"/>
                </a:solidFill>
                <a:latin typeface="思源黑体 2 Heavy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7515743" y="3223094"/>
            <a:ext cx="9551613" cy="1920406"/>
            <a:chOff x="11836" y="5076"/>
            <a:chExt cx="15042" cy="3024"/>
          </a:xfrm>
        </p:grpSpPr>
        <p:sp>
          <p:nvSpPr>
            <p:cNvPr id="16" name="Freeform 9"/>
            <p:cNvSpPr/>
            <p:nvPr/>
          </p:nvSpPr>
          <p:spPr>
            <a:xfrm>
              <a:off x="14522" y="5076"/>
              <a:ext cx="12356" cy="3024"/>
            </a:xfrm>
            <a:custGeom>
              <a:avLst/>
              <a:gdLst/>
              <a:ahLst/>
              <a:cxnLst/>
              <a:rect l="l" t="t" r="r" b="b"/>
              <a:pathLst>
                <a:path w="7846232" h="1920406">
                  <a:moveTo>
                    <a:pt x="0" y="0"/>
                  </a:moveTo>
                  <a:lnTo>
                    <a:pt x="7846232" y="0"/>
                  </a:lnTo>
                  <a:lnTo>
                    <a:pt x="7846232" y="1920406"/>
                  </a:lnTo>
                  <a:lnTo>
                    <a:pt x="0" y="1920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7" name="Freeform 10"/>
            <p:cNvSpPr/>
            <p:nvPr/>
          </p:nvSpPr>
          <p:spPr>
            <a:xfrm>
              <a:off x="11836" y="5076"/>
              <a:ext cx="2967" cy="3024"/>
            </a:xfrm>
            <a:custGeom>
              <a:avLst/>
              <a:gdLst/>
              <a:ahLst/>
              <a:cxnLst/>
              <a:rect l="l" t="t" r="r" b="b"/>
              <a:pathLst>
                <a:path w="1883828" h="1920406">
                  <a:moveTo>
                    <a:pt x="0" y="0"/>
                  </a:moveTo>
                  <a:lnTo>
                    <a:pt x="1883827" y="0"/>
                  </a:lnTo>
                  <a:lnTo>
                    <a:pt x="1883827" y="1920406"/>
                  </a:lnTo>
                  <a:lnTo>
                    <a:pt x="0" y="1920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9" name="TextBox 12"/>
            <p:cNvSpPr txBox="1"/>
            <p:nvPr/>
          </p:nvSpPr>
          <p:spPr>
            <a:xfrm>
              <a:off x="12283" y="5860"/>
              <a:ext cx="2072" cy="1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20"/>
                </a:lnSpc>
              </a:pPr>
              <a:r>
                <a:rPr lang="en-US" sz="5600">
                  <a:solidFill>
                    <a:srgbClr val="326CFC"/>
                  </a:solidFill>
                  <a:latin typeface="思源黑体 2 Heavy"/>
                </a:rPr>
                <a:t>02</a:t>
              </a:r>
              <a:endParaRPr lang="en-US" sz="5600">
                <a:solidFill>
                  <a:srgbClr val="326CFC"/>
                </a:solidFill>
                <a:latin typeface="思源黑体 2 Heavy"/>
              </a:endParaRPr>
            </a:p>
          </p:txBody>
        </p:sp>
      </p:grpSp>
      <p:grpSp>
        <p:nvGrpSpPr>
          <p:cNvPr id="20" name="组合 19"/>
          <p:cNvGrpSpPr/>
          <p:nvPr userDrawn="1"/>
        </p:nvGrpSpPr>
        <p:grpSpPr>
          <a:xfrm>
            <a:off x="7515743" y="5143500"/>
            <a:ext cx="9551613" cy="1920406"/>
            <a:chOff x="11836" y="8100"/>
            <a:chExt cx="15042" cy="3024"/>
          </a:xfrm>
        </p:grpSpPr>
        <p:sp>
          <p:nvSpPr>
            <p:cNvPr id="21" name="Freeform 13"/>
            <p:cNvSpPr/>
            <p:nvPr/>
          </p:nvSpPr>
          <p:spPr>
            <a:xfrm>
              <a:off x="14522" y="8100"/>
              <a:ext cx="12356" cy="3024"/>
            </a:xfrm>
            <a:custGeom>
              <a:avLst/>
              <a:gdLst/>
              <a:ahLst/>
              <a:cxnLst/>
              <a:rect l="l" t="t" r="r" b="b"/>
              <a:pathLst>
                <a:path w="7846232" h="1920406">
                  <a:moveTo>
                    <a:pt x="0" y="0"/>
                  </a:moveTo>
                  <a:lnTo>
                    <a:pt x="7846232" y="0"/>
                  </a:lnTo>
                  <a:lnTo>
                    <a:pt x="7846232" y="1920406"/>
                  </a:lnTo>
                  <a:lnTo>
                    <a:pt x="0" y="1920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22" name="Freeform 14"/>
            <p:cNvSpPr/>
            <p:nvPr/>
          </p:nvSpPr>
          <p:spPr>
            <a:xfrm>
              <a:off x="11836" y="8100"/>
              <a:ext cx="2967" cy="3024"/>
            </a:xfrm>
            <a:custGeom>
              <a:avLst/>
              <a:gdLst/>
              <a:ahLst/>
              <a:cxnLst/>
              <a:rect l="l" t="t" r="r" b="b"/>
              <a:pathLst>
                <a:path w="1883828" h="1920406">
                  <a:moveTo>
                    <a:pt x="0" y="0"/>
                  </a:moveTo>
                  <a:lnTo>
                    <a:pt x="1883827" y="0"/>
                  </a:lnTo>
                  <a:lnTo>
                    <a:pt x="1883827" y="1920406"/>
                  </a:lnTo>
                  <a:lnTo>
                    <a:pt x="0" y="1920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24" name="TextBox 16"/>
            <p:cNvSpPr txBox="1"/>
            <p:nvPr/>
          </p:nvSpPr>
          <p:spPr>
            <a:xfrm>
              <a:off x="12283" y="8884"/>
              <a:ext cx="2072" cy="1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20"/>
                </a:lnSpc>
              </a:pPr>
              <a:r>
                <a:rPr lang="en-US" sz="5600">
                  <a:solidFill>
                    <a:srgbClr val="326CFC"/>
                  </a:solidFill>
                  <a:latin typeface="思源黑体 2 Heavy"/>
                </a:rPr>
                <a:t>03</a:t>
              </a:r>
              <a:endParaRPr lang="en-US" sz="5600">
                <a:solidFill>
                  <a:srgbClr val="326CFC"/>
                </a:solidFill>
                <a:latin typeface="思源黑体 2 Heavy"/>
              </a:endParaRPr>
            </a:p>
          </p:txBody>
        </p:sp>
      </p:grpSp>
      <p:pic>
        <p:nvPicPr>
          <p:cNvPr id="30" name="图片 29" descr="upload_post_object_v2_156234910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6645" y="1129922"/>
            <a:ext cx="2639967" cy="758731"/>
          </a:xfrm>
          <a:prstGeom prst="rect">
            <a:avLst/>
          </a:prstGeom>
        </p:spPr>
      </p:pic>
      <p:sp>
        <p:nvSpPr>
          <p:cNvPr id="33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249580" y="1869692"/>
            <a:ext cx="3962400" cy="99509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400"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</a:lstStyle>
          <a:p>
            <a:pPr lvl="0"/>
            <a:r>
              <a:rPr lang="zh-CN" altLang="en-US" dirty="0"/>
              <a:t>温故知新</a:t>
            </a:r>
            <a:endParaRPr lang="zh-CN" altLang="en-US" dirty="0"/>
          </a:p>
        </p:txBody>
      </p:sp>
      <p:sp>
        <p:nvSpPr>
          <p:cNvPr id="35" name="文本占位符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249580" y="3832429"/>
            <a:ext cx="3962400" cy="9527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</a:lstStyle>
          <a:p>
            <a:pPr lvl="0"/>
            <a:r>
              <a:rPr lang="zh-CN" altLang="en-US" dirty="0"/>
              <a:t>新知讲解</a:t>
            </a:r>
            <a:endParaRPr lang="zh-CN" altLang="en-US" dirty="0"/>
          </a:p>
        </p:txBody>
      </p:sp>
      <p:sp>
        <p:nvSpPr>
          <p:cNvPr id="2" name="文本占位符 34"/>
          <p:cNvSpPr>
            <a:spLocks noGrp="1"/>
          </p:cNvSpPr>
          <p:nvPr>
            <p:ph type="body" sz="quarter" idx="12" hasCustomPrompt="1"/>
          </p:nvPr>
        </p:nvSpPr>
        <p:spPr>
          <a:xfrm>
            <a:off x="10249580" y="5748292"/>
            <a:ext cx="3962400" cy="9573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</a:lstStyle>
          <a:p>
            <a:pPr lvl="0"/>
            <a:r>
              <a:rPr lang="zh-CN" altLang="en-US" dirty="0"/>
              <a:t>学以致用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xyd-录播课ppt模板"/>
          <p:cNvPicPr>
            <a:picLocks noChangeAspect="1"/>
          </p:cNvPicPr>
          <p:nvPr userDrawn="1"/>
        </p:nvPicPr>
        <p:blipFill>
          <a:blip r:embed="rId2"/>
          <a:srcRect l="24149" t="34815"/>
          <a:stretch>
            <a:fillRect/>
          </a:stretch>
        </p:blipFill>
        <p:spPr>
          <a:xfrm>
            <a:off x="0" y="0"/>
            <a:ext cx="9573895" cy="6705600"/>
          </a:xfrm>
          <a:prstGeom prst="rect">
            <a:avLst/>
          </a:prstGeom>
        </p:spPr>
      </p:pic>
      <p:sp>
        <p:nvSpPr>
          <p:cNvPr id="8" name="TextBox 3"/>
          <p:cNvSpPr txBox="1"/>
          <p:nvPr userDrawn="1"/>
        </p:nvSpPr>
        <p:spPr>
          <a:xfrm>
            <a:off x="1896876" y="6415329"/>
            <a:ext cx="3955125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dirty="0">
                <a:solidFill>
                  <a:srgbClr val="326CFC"/>
                </a:solidFill>
                <a:latin typeface="思源黑体 2 Bold"/>
              </a:rPr>
              <a:t>Contents</a:t>
            </a:r>
            <a:endParaRPr lang="en-US" sz="5000" dirty="0">
              <a:solidFill>
                <a:srgbClr val="326CFC"/>
              </a:solidFill>
              <a:latin typeface="思源黑体 2 Bold"/>
            </a:endParaRPr>
          </a:p>
        </p:txBody>
      </p:sp>
      <p:sp>
        <p:nvSpPr>
          <p:cNvPr id="9" name="TextBox 4"/>
          <p:cNvSpPr txBox="1"/>
          <p:nvPr userDrawn="1"/>
        </p:nvSpPr>
        <p:spPr>
          <a:xfrm>
            <a:off x="2383111" y="4929429"/>
            <a:ext cx="2982655" cy="149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40"/>
              </a:lnSpc>
            </a:pPr>
            <a:r>
              <a:rPr lang="en-US" sz="9700" dirty="0">
                <a:solidFill>
                  <a:srgbClr val="262626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  <a:cs typeface="思源黑体 2 Heavy" charset="0"/>
              </a:rPr>
              <a:t>目录</a:t>
            </a:r>
            <a:endParaRPr lang="en-US" sz="9700" dirty="0">
              <a:solidFill>
                <a:srgbClr val="262626"/>
              </a:solidFill>
              <a:latin typeface="思源黑体 Medium" panose="020B0600000000000000" pitchFamily="34" charset="-122"/>
              <a:ea typeface="思源黑体 Medium" panose="020B0600000000000000" pitchFamily="34" charset="-122"/>
              <a:cs typeface="思源黑体 2 Heavy" charset="0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15743" y="1302687"/>
            <a:ext cx="9551613" cy="1920406"/>
            <a:chOff x="11836" y="2051"/>
            <a:chExt cx="15042" cy="3024"/>
          </a:xfrm>
        </p:grpSpPr>
        <p:sp>
          <p:nvSpPr>
            <p:cNvPr id="11" name="Freeform 5"/>
            <p:cNvSpPr/>
            <p:nvPr/>
          </p:nvSpPr>
          <p:spPr>
            <a:xfrm>
              <a:off x="14522" y="2051"/>
              <a:ext cx="12356" cy="3024"/>
            </a:xfrm>
            <a:custGeom>
              <a:avLst/>
              <a:gdLst/>
              <a:ahLst/>
              <a:cxnLst/>
              <a:rect l="l" t="t" r="r" b="b"/>
              <a:pathLst>
                <a:path w="7846232" h="1920406">
                  <a:moveTo>
                    <a:pt x="0" y="0"/>
                  </a:moveTo>
                  <a:lnTo>
                    <a:pt x="7846232" y="0"/>
                  </a:lnTo>
                  <a:lnTo>
                    <a:pt x="7846232" y="1920407"/>
                  </a:lnTo>
                  <a:lnTo>
                    <a:pt x="0" y="1920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2" name="Freeform 6"/>
            <p:cNvSpPr/>
            <p:nvPr/>
          </p:nvSpPr>
          <p:spPr>
            <a:xfrm>
              <a:off x="11836" y="2051"/>
              <a:ext cx="2967" cy="3024"/>
            </a:xfrm>
            <a:custGeom>
              <a:avLst/>
              <a:gdLst/>
              <a:ahLst/>
              <a:cxnLst/>
              <a:rect l="l" t="t" r="r" b="b"/>
              <a:pathLst>
                <a:path w="1883828" h="1920406">
                  <a:moveTo>
                    <a:pt x="0" y="0"/>
                  </a:moveTo>
                  <a:lnTo>
                    <a:pt x="1883827" y="0"/>
                  </a:lnTo>
                  <a:lnTo>
                    <a:pt x="1883827" y="1920407"/>
                  </a:lnTo>
                  <a:lnTo>
                    <a:pt x="0" y="1920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4" name="TextBox 8"/>
            <p:cNvSpPr txBox="1"/>
            <p:nvPr/>
          </p:nvSpPr>
          <p:spPr>
            <a:xfrm>
              <a:off x="12283" y="2836"/>
              <a:ext cx="2072" cy="1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20"/>
                </a:lnSpc>
              </a:pPr>
              <a:r>
                <a:rPr lang="en-US" sz="5600">
                  <a:solidFill>
                    <a:srgbClr val="326CFC"/>
                  </a:solidFill>
                  <a:latin typeface="思源黑体 2 Heavy"/>
                </a:rPr>
                <a:t>01</a:t>
              </a:r>
              <a:endParaRPr lang="en-US" sz="5600">
                <a:solidFill>
                  <a:srgbClr val="326CFC"/>
                </a:solidFill>
                <a:latin typeface="思源黑体 2 Heavy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7515743" y="3223094"/>
            <a:ext cx="9551613" cy="1920406"/>
            <a:chOff x="11836" y="5076"/>
            <a:chExt cx="15042" cy="3024"/>
          </a:xfrm>
        </p:grpSpPr>
        <p:sp>
          <p:nvSpPr>
            <p:cNvPr id="16" name="Freeform 9"/>
            <p:cNvSpPr/>
            <p:nvPr/>
          </p:nvSpPr>
          <p:spPr>
            <a:xfrm>
              <a:off x="14522" y="5076"/>
              <a:ext cx="12356" cy="3024"/>
            </a:xfrm>
            <a:custGeom>
              <a:avLst/>
              <a:gdLst/>
              <a:ahLst/>
              <a:cxnLst/>
              <a:rect l="l" t="t" r="r" b="b"/>
              <a:pathLst>
                <a:path w="7846232" h="1920406">
                  <a:moveTo>
                    <a:pt x="0" y="0"/>
                  </a:moveTo>
                  <a:lnTo>
                    <a:pt x="7846232" y="0"/>
                  </a:lnTo>
                  <a:lnTo>
                    <a:pt x="7846232" y="1920406"/>
                  </a:lnTo>
                  <a:lnTo>
                    <a:pt x="0" y="1920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7" name="Freeform 10"/>
            <p:cNvSpPr/>
            <p:nvPr/>
          </p:nvSpPr>
          <p:spPr>
            <a:xfrm>
              <a:off x="11836" y="5076"/>
              <a:ext cx="2967" cy="3024"/>
            </a:xfrm>
            <a:custGeom>
              <a:avLst/>
              <a:gdLst/>
              <a:ahLst/>
              <a:cxnLst/>
              <a:rect l="l" t="t" r="r" b="b"/>
              <a:pathLst>
                <a:path w="1883828" h="1920406">
                  <a:moveTo>
                    <a:pt x="0" y="0"/>
                  </a:moveTo>
                  <a:lnTo>
                    <a:pt x="1883827" y="0"/>
                  </a:lnTo>
                  <a:lnTo>
                    <a:pt x="1883827" y="1920406"/>
                  </a:lnTo>
                  <a:lnTo>
                    <a:pt x="0" y="1920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9" name="TextBox 12"/>
            <p:cNvSpPr txBox="1"/>
            <p:nvPr/>
          </p:nvSpPr>
          <p:spPr>
            <a:xfrm>
              <a:off x="12283" y="5860"/>
              <a:ext cx="2072" cy="1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20"/>
                </a:lnSpc>
              </a:pPr>
              <a:r>
                <a:rPr lang="en-US" sz="5600">
                  <a:solidFill>
                    <a:srgbClr val="326CFC"/>
                  </a:solidFill>
                  <a:latin typeface="思源黑体 2 Heavy"/>
                </a:rPr>
                <a:t>02</a:t>
              </a:r>
              <a:endParaRPr lang="en-US" sz="5600">
                <a:solidFill>
                  <a:srgbClr val="326CFC"/>
                </a:solidFill>
                <a:latin typeface="思源黑体 2 Heavy"/>
              </a:endParaRPr>
            </a:p>
          </p:txBody>
        </p:sp>
      </p:grpSp>
      <p:grpSp>
        <p:nvGrpSpPr>
          <p:cNvPr id="20" name="组合 19"/>
          <p:cNvGrpSpPr/>
          <p:nvPr userDrawn="1"/>
        </p:nvGrpSpPr>
        <p:grpSpPr>
          <a:xfrm>
            <a:off x="7515743" y="5143500"/>
            <a:ext cx="9551613" cy="1920406"/>
            <a:chOff x="11836" y="8100"/>
            <a:chExt cx="15042" cy="3024"/>
          </a:xfrm>
        </p:grpSpPr>
        <p:sp>
          <p:nvSpPr>
            <p:cNvPr id="21" name="Freeform 13"/>
            <p:cNvSpPr/>
            <p:nvPr/>
          </p:nvSpPr>
          <p:spPr>
            <a:xfrm>
              <a:off x="14522" y="8100"/>
              <a:ext cx="12356" cy="3024"/>
            </a:xfrm>
            <a:custGeom>
              <a:avLst/>
              <a:gdLst/>
              <a:ahLst/>
              <a:cxnLst/>
              <a:rect l="l" t="t" r="r" b="b"/>
              <a:pathLst>
                <a:path w="7846232" h="1920406">
                  <a:moveTo>
                    <a:pt x="0" y="0"/>
                  </a:moveTo>
                  <a:lnTo>
                    <a:pt x="7846232" y="0"/>
                  </a:lnTo>
                  <a:lnTo>
                    <a:pt x="7846232" y="1920406"/>
                  </a:lnTo>
                  <a:lnTo>
                    <a:pt x="0" y="1920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22" name="Freeform 14"/>
            <p:cNvSpPr/>
            <p:nvPr/>
          </p:nvSpPr>
          <p:spPr>
            <a:xfrm>
              <a:off x="11836" y="8100"/>
              <a:ext cx="2967" cy="3024"/>
            </a:xfrm>
            <a:custGeom>
              <a:avLst/>
              <a:gdLst/>
              <a:ahLst/>
              <a:cxnLst/>
              <a:rect l="l" t="t" r="r" b="b"/>
              <a:pathLst>
                <a:path w="1883828" h="1920406">
                  <a:moveTo>
                    <a:pt x="0" y="0"/>
                  </a:moveTo>
                  <a:lnTo>
                    <a:pt x="1883827" y="0"/>
                  </a:lnTo>
                  <a:lnTo>
                    <a:pt x="1883827" y="1920406"/>
                  </a:lnTo>
                  <a:lnTo>
                    <a:pt x="0" y="1920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24" name="TextBox 16"/>
            <p:cNvSpPr txBox="1"/>
            <p:nvPr/>
          </p:nvSpPr>
          <p:spPr>
            <a:xfrm>
              <a:off x="12283" y="8884"/>
              <a:ext cx="2072" cy="1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20"/>
                </a:lnSpc>
              </a:pPr>
              <a:r>
                <a:rPr lang="en-US" sz="5600">
                  <a:solidFill>
                    <a:srgbClr val="326CFC"/>
                  </a:solidFill>
                  <a:latin typeface="思源黑体 2 Heavy"/>
                </a:rPr>
                <a:t>03</a:t>
              </a:r>
              <a:endParaRPr lang="en-US" sz="5600">
                <a:solidFill>
                  <a:srgbClr val="326CFC"/>
                </a:solidFill>
                <a:latin typeface="思源黑体 2 Heavy"/>
              </a:endParaRPr>
            </a:p>
          </p:txBody>
        </p:sp>
      </p:grpSp>
      <p:grpSp>
        <p:nvGrpSpPr>
          <p:cNvPr id="25" name="组合 24"/>
          <p:cNvGrpSpPr/>
          <p:nvPr userDrawn="1"/>
        </p:nvGrpSpPr>
        <p:grpSpPr>
          <a:xfrm>
            <a:off x="7515743" y="7063906"/>
            <a:ext cx="9551613" cy="1920406"/>
            <a:chOff x="11836" y="11124"/>
            <a:chExt cx="15042" cy="3024"/>
          </a:xfrm>
        </p:grpSpPr>
        <p:sp>
          <p:nvSpPr>
            <p:cNvPr id="26" name="Freeform 17"/>
            <p:cNvSpPr/>
            <p:nvPr/>
          </p:nvSpPr>
          <p:spPr>
            <a:xfrm>
              <a:off x="14522" y="11124"/>
              <a:ext cx="12356" cy="3024"/>
            </a:xfrm>
            <a:custGeom>
              <a:avLst/>
              <a:gdLst/>
              <a:ahLst/>
              <a:cxnLst/>
              <a:rect l="l" t="t" r="r" b="b"/>
              <a:pathLst>
                <a:path w="7846232" h="1920406">
                  <a:moveTo>
                    <a:pt x="0" y="0"/>
                  </a:moveTo>
                  <a:lnTo>
                    <a:pt x="7846232" y="0"/>
                  </a:lnTo>
                  <a:lnTo>
                    <a:pt x="7846232" y="1920407"/>
                  </a:lnTo>
                  <a:lnTo>
                    <a:pt x="0" y="1920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27" name="Freeform 18"/>
            <p:cNvSpPr/>
            <p:nvPr/>
          </p:nvSpPr>
          <p:spPr>
            <a:xfrm>
              <a:off x="11836" y="11124"/>
              <a:ext cx="2967" cy="3024"/>
            </a:xfrm>
            <a:custGeom>
              <a:avLst/>
              <a:gdLst/>
              <a:ahLst/>
              <a:cxnLst/>
              <a:rect l="l" t="t" r="r" b="b"/>
              <a:pathLst>
                <a:path w="1883828" h="1920406">
                  <a:moveTo>
                    <a:pt x="0" y="0"/>
                  </a:moveTo>
                  <a:lnTo>
                    <a:pt x="1883827" y="0"/>
                  </a:lnTo>
                  <a:lnTo>
                    <a:pt x="1883827" y="1920407"/>
                  </a:lnTo>
                  <a:lnTo>
                    <a:pt x="0" y="1920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29" name="TextBox 20"/>
            <p:cNvSpPr txBox="1"/>
            <p:nvPr/>
          </p:nvSpPr>
          <p:spPr>
            <a:xfrm>
              <a:off x="12283" y="11908"/>
              <a:ext cx="2072" cy="1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20"/>
                </a:lnSpc>
              </a:pPr>
              <a:r>
                <a:rPr lang="en-US" sz="5600">
                  <a:solidFill>
                    <a:srgbClr val="326CFC"/>
                  </a:solidFill>
                  <a:latin typeface="思源黑体 2 Heavy"/>
                </a:rPr>
                <a:t>04</a:t>
              </a:r>
              <a:endParaRPr lang="en-US" sz="5600">
                <a:solidFill>
                  <a:srgbClr val="326CFC"/>
                </a:solidFill>
                <a:latin typeface="思源黑体 2 Heavy"/>
              </a:endParaRPr>
            </a:p>
          </p:txBody>
        </p:sp>
      </p:grpSp>
      <p:pic>
        <p:nvPicPr>
          <p:cNvPr id="30" name="图片 29" descr="upload_post_object_v2_156234910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6645" y="1129922"/>
            <a:ext cx="2639967" cy="758731"/>
          </a:xfrm>
          <a:prstGeom prst="rect">
            <a:avLst/>
          </a:prstGeom>
        </p:spPr>
      </p:pic>
      <p:sp>
        <p:nvSpPr>
          <p:cNvPr id="33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249580" y="1869692"/>
            <a:ext cx="3962400" cy="98780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400"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</a:lstStyle>
          <a:p>
            <a:pPr lvl="0"/>
            <a:r>
              <a:rPr lang="zh-CN" altLang="en-US" dirty="0"/>
              <a:t>温故知新</a:t>
            </a:r>
            <a:endParaRPr lang="zh-CN" altLang="en-US" dirty="0"/>
          </a:p>
        </p:txBody>
      </p:sp>
      <p:sp>
        <p:nvSpPr>
          <p:cNvPr id="35" name="文本占位符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249580" y="3832429"/>
            <a:ext cx="3962400" cy="94547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</a:lstStyle>
          <a:p>
            <a:pPr lvl="0"/>
            <a:r>
              <a:rPr lang="zh-CN" altLang="en-US" dirty="0"/>
              <a:t>新知讲解</a:t>
            </a:r>
            <a:endParaRPr lang="zh-CN" altLang="en-US" dirty="0"/>
          </a:p>
        </p:txBody>
      </p:sp>
      <p:sp>
        <p:nvSpPr>
          <p:cNvPr id="2" name="文本占位符 34"/>
          <p:cNvSpPr>
            <a:spLocks noGrp="1"/>
          </p:cNvSpPr>
          <p:nvPr>
            <p:ph type="body" sz="quarter" idx="12" hasCustomPrompt="1"/>
          </p:nvPr>
        </p:nvSpPr>
        <p:spPr>
          <a:xfrm>
            <a:off x="10249580" y="5748292"/>
            <a:ext cx="3962400" cy="95001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</a:lstStyle>
          <a:p>
            <a:pPr lvl="0"/>
            <a:r>
              <a:rPr lang="zh-CN" altLang="en-US" dirty="0"/>
              <a:t>学以致用</a:t>
            </a:r>
            <a:endParaRPr lang="zh-CN" altLang="en-US" dirty="0"/>
          </a:p>
        </p:txBody>
      </p:sp>
      <p:sp>
        <p:nvSpPr>
          <p:cNvPr id="3" name="文本占位符 34"/>
          <p:cNvSpPr>
            <a:spLocks noGrp="1"/>
          </p:cNvSpPr>
          <p:nvPr>
            <p:ph type="body" sz="quarter" idx="13" hasCustomPrompt="1"/>
          </p:nvPr>
        </p:nvSpPr>
        <p:spPr>
          <a:xfrm>
            <a:off x="10249580" y="7664156"/>
            <a:ext cx="3962400" cy="9545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</a:lstStyle>
          <a:p>
            <a:pPr lvl="0"/>
            <a:r>
              <a:rPr lang="zh-CN" altLang="en-US" dirty="0"/>
              <a:t>熟能生巧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环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2"/>
          <p:cNvPicPr>
            <a:picLocks noChangeAspect="1"/>
          </p:cNvPicPr>
          <p:nvPr userDrawn="1"/>
        </p:nvPicPr>
        <p:blipFill>
          <a:blip r:embed="rId2"/>
          <a:srcRect t="9812" r="4793"/>
          <a:stretch>
            <a:fillRect/>
          </a:stretch>
        </p:blipFill>
        <p:spPr>
          <a:xfrm>
            <a:off x="0" y="-114300"/>
            <a:ext cx="18318480" cy="9721850"/>
          </a:xfrm>
          <a:prstGeom prst="rect">
            <a:avLst/>
          </a:prstGeom>
        </p:spPr>
      </p:pic>
      <p:pic>
        <p:nvPicPr>
          <p:cNvPr id="9" name="图片 8" descr="upload_post_object_v2_1562349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619246" y="1115973"/>
            <a:ext cx="2639967" cy="758731"/>
          </a:xfrm>
          <a:prstGeom prst="rect">
            <a:avLst/>
          </a:prstGeom>
        </p:spPr>
      </p:pic>
      <p:sp>
        <p:nvSpPr>
          <p:cNvPr id="12" name="Freeform 3"/>
          <p:cNvSpPr/>
          <p:nvPr/>
        </p:nvSpPr>
        <p:spPr>
          <a:xfrm>
            <a:off x="4044950" y="3506470"/>
            <a:ext cx="2908935" cy="2930525"/>
          </a:xfrm>
          <a:custGeom>
            <a:avLst/>
            <a:gdLst/>
            <a:ahLst/>
            <a:cxnLst/>
            <a:rect l="l" t="t" r="r" b="b"/>
            <a:pathLst>
              <a:path w="2908775" h="2930728">
                <a:moveTo>
                  <a:pt x="0" y="0"/>
                </a:moveTo>
                <a:lnTo>
                  <a:pt x="2908776" y="0"/>
                </a:lnTo>
                <a:lnTo>
                  <a:pt x="2908776" y="2930728"/>
                </a:lnTo>
                <a:lnTo>
                  <a:pt x="0" y="29307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53884" y="3977557"/>
            <a:ext cx="8286474" cy="198834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8000">
                <a:solidFill>
                  <a:schemeClr val="bg1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</a:lstStyle>
          <a:p>
            <a:r>
              <a:rPr lang="zh-CN" altLang="en-US" dirty="0"/>
              <a:t>环节页标题</a:t>
            </a:r>
            <a:endParaRPr 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0" hasCustomPrompt="1"/>
          </p:nvPr>
        </p:nvSpPr>
        <p:spPr>
          <a:xfrm>
            <a:off x="4699317" y="4295296"/>
            <a:ext cx="1600200" cy="1352869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8000">
                <a:solidFill>
                  <a:srgbClr val="326CFC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 userDrawn="1"/>
        </p:nvGrpSpPr>
        <p:grpSpPr>
          <a:xfrm>
            <a:off x="0" y="7200900"/>
            <a:ext cx="18288000" cy="3086100"/>
            <a:chOff x="0" y="0"/>
            <a:chExt cx="4816593" cy="812800"/>
          </a:xfrm>
        </p:grpSpPr>
        <p:sp>
          <p:nvSpPr>
            <p:cNvPr id="7" name="Freeform 3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26CFC"/>
            </a:solidFill>
          </p:spPr>
        </p:sp>
        <p:sp>
          <p:nvSpPr>
            <p:cNvPr id="8" name="TextBox 4"/>
            <p:cNvSpPr txBox="1"/>
            <p:nvPr/>
          </p:nvSpPr>
          <p:spPr>
            <a:xfrm>
              <a:off x="0" y="-47625"/>
              <a:ext cx="481659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85"/>
                </a:lnSpc>
              </a:pPr>
            </a:p>
          </p:txBody>
        </p:sp>
      </p:grpSp>
      <p:sp>
        <p:nvSpPr>
          <p:cNvPr id="9" name="Freeform 5"/>
          <p:cNvSpPr/>
          <p:nvPr userDrawn="1"/>
        </p:nvSpPr>
        <p:spPr>
          <a:xfrm>
            <a:off x="359410" y="1473835"/>
            <a:ext cx="17568545" cy="8339455"/>
          </a:xfrm>
          <a:custGeom>
            <a:avLst/>
            <a:gdLst/>
            <a:ahLst/>
            <a:cxnLst/>
            <a:rect l="l" t="t" r="r" b="b"/>
            <a:pathLst>
              <a:path w="17568727" h="7470606">
                <a:moveTo>
                  <a:pt x="0" y="0"/>
                </a:moveTo>
                <a:lnTo>
                  <a:pt x="17568726" y="0"/>
                </a:lnTo>
                <a:lnTo>
                  <a:pt x="17568726" y="7470606"/>
                </a:lnTo>
                <a:lnTo>
                  <a:pt x="0" y="7470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11" name="图片 10" descr="upload_post_object_v2_67615065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2204489" cy="1695537"/>
          </a:xfrm>
          <a:prstGeom prst="rect">
            <a:avLst/>
          </a:prstGeom>
        </p:spPr>
      </p:pic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1371600" y="394568"/>
            <a:ext cx="5181600" cy="710883"/>
          </a:xfrm>
        </p:spPr>
        <p:txBody>
          <a:bodyPr>
            <a:normAutofit/>
          </a:bodyPr>
          <a:lstStyle>
            <a:lvl1pPr marL="0" indent="0" algn="just">
              <a:lnSpc>
                <a:spcPct val="100000"/>
              </a:lnSpc>
              <a:buNone/>
              <a:defRPr sz="4000"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</a:lstStyle>
          <a:p>
            <a:pPr lvl="0"/>
            <a:r>
              <a:rPr lang="zh-CN" altLang="en-US" dirty="0"/>
              <a:t>课前回顾</a:t>
            </a:r>
            <a:endParaRPr lang="zh-CN" altLang="en-US" dirty="0"/>
          </a:p>
        </p:txBody>
      </p:sp>
      <p:pic>
        <p:nvPicPr>
          <p:cNvPr id="15" name="图片 14" descr="upload_post_object_v2_27759929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468600" y="473710"/>
            <a:ext cx="1981200" cy="5845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 userDrawn="1"/>
        </p:nvGrpSpPr>
        <p:grpSpPr>
          <a:xfrm>
            <a:off x="0" y="7200900"/>
            <a:ext cx="18288000" cy="3086100"/>
            <a:chOff x="0" y="0"/>
            <a:chExt cx="4816593" cy="812800"/>
          </a:xfrm>
        </p:grpSpPr>
        <p:sp>
          <p:nvSpPr>
            <p:cNvPr id="7" name="Freeform 3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26CFC"/>
            </a:solidFill>
          </p:spPr>
        </p:sp>
        <p:sp>
          <p:nvSpPr>
            <p:cNvPr id="8" name="TextBox 4"/>
            <p:cNvSpPr txBox="1"/>
            <p:nvPr/>
          </p:nvSpPr>
          <p:spPr>
            <a:xfrm>
              <a:off x="0" y="-47625"/>
              <a:ext cx="481659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85"/>
                </a:lnSpc>
              </a:pPr>
            </a:p>
          </p:txBody>
        </p:sp>
      </p:grpSp>
      <p:sp>
        <p:nvSpPr>
          <p:cNvPr id="9" name="Freeform 5"/>
          <p:cNvSpPr/>
          <p:nvPr userDrawn="1"/>
        </p:nvSpPr>
        <p:spPr>
          <a:xfrm>
            <a:off x="359410" y="1473835"/>
            <a:ext cx="17568545" cy="8339455"/>
          </a:xfrm>
          <a:custGeom>
            <a:avLst/>
            <a:gdLst/>
            <a:ahLst/>
            <a:cxnLst/>
            <a:rect l="l" t="t" r="r" b="b"/>
            <a:pathLst>
              <a:path w="17568727" h="7470606">
                <a:moveTo>
                  <a:pt x="0" y="0"/>
                </a:moveTo>
                <a:lnTo>
                  <a:pt x="17568726" y="0"/>
                </a:lnTo>
                <a:lnTo>
                  <a:pt x="17568726" y="7470606"/>
                </a:lnTo>
                <a:lnTo>
                  <a:pt x="0" y="7470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11" name="图片 10" descr="upload_post_object_v2_67615065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2204489" cy="1695537"/>
          </a:xfrm>
          <a:prstGeom prst="rect">
            <a:avLst/>
          </a:prstGeom>
        </p:spPr>
      </p:pic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1371600" y="394568"/>
            <a:ext cx="5181600" cy="710883"/>
          </a:xfrm>
        </p:spPr>
        <p:txBody>
          <a:bodyPr>
            <a:normAutofit/>
          </a:bodyPr>
          <a:lstStyle>
            <a:lvl1pPr marL="0" indent="0" algn="just">
              <a:lnSpc>
                <a:spcPct val="100000"/>
              </a:lnSpc>
              <a:buNone/>
              <a:defRPr sz="4000"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</a:lstStyle>
          <a:p>
            <a:pPr lvl="0"/>
            <a:r>
              <a:rPr lang="zh-CN" altLang="en-US" dirty="0"/>
              <a:t>课前回顾</a:t>
            </a:r>
            <a:endParaRPr lang="zh-CN" altLang="en-US" dirty="0"/>
          </a:p>
        </p:txBody>
      </p:sp>
      <p:pic>
        <p:nvPicPr>
          <p:cNvPr id="15" name="图片 14" descr="upload_post_object_v2_27759929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468600" y="473710"/>
            <a:ext cx="1981200" cy="584569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2438400" y="2809726"/>
            <a:ext cx="13487400" cy="379479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  <a:lvl2pPr marL="685800" indent="0">
              <a:buNone/>
              <a:defRPr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2pPr>
            <a:lvl3pPr>
              <a:defRPr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3pPr>
            <a:lvl4pPr>
              <a:defRPr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4pPr>
            <a:lvl5pPr>
              <a:defRPr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947" t="-51925" r="-15823" b="-14555"/>
            </a:stretch>
          </a:blipFill>
        </p:spPr>
      </p:sp>
      <p:pic>
        <p:nvPicPr>
          <p:cNvPr id="4" name="图片 3" descr="upload_post_object_v2_90813859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71442" y="0"/>
            <a:ext cx="7716558" cy="7183248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3905962" y="3556362"/>
            <a:ext cx="10476075" cy="1597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85"/>
              </a:lnSpc>
            </a:pPr>
            <a:r>
              <a:rPr lang="en-US" sz="9600" b="1" dirty="0">
                <a:solidFill>
                  <a:srgbClr val="326CFC"/>
                </a:solidFill>
                <a:latin typeface="思源黑体 Heavy" panose="020B0A00000000000000" pitchFamily="34" charset="-122"/>
                <a:ea typeface="思源黑体 Heavy" panose="020B0A00000000000000" pitchFamily="34" charset="-122"/>
                <a:cs typeface="思源黑体 2 Bold" charset="0"/>
              </a:rPr>
              <a:t>CLASS OVER！</a:t>
            </a:r>
            <a:r>
              <a:rPr lang="en-US" sz="8800" dirty="0">
                <a:solidFill>
                  <a:srgbClr val="326CFC"/>
                </a:solidFill>
                <a:latin typeface="思源黑体 Heavy" panose="020B0A00000000000000" pitchFamily="34" charset="-122"/>
                <a:ea typeface="思源黑体 Heavy" panose="020B0A00000000000000" pitchFamily="34" charset="-122"/>
                <a:cs typeface="思源黑体 2 Bold" charset="0"/>
              </a:rPr>
              <a:t> </a:t>
            </a:r>
            <a:endParaRPr lang="en-US" sz="8800" dirty="0">
              <a:solidFill>
                <a:srgbClr val="326CFC"/>
              </a:solidFill>
              <a:latin typeface="思源黑体 Heavy" panose="020B0A00000000000000" pitchFamily="34" charset="-122"/>
              <a:ea typeface="思源黑体 Heavy" panose="020B0A00000000000000" pitchFamily="34" charset="-122"/>
              <a:cs typeface="思源黑体 2 Bold" charset="0"/>
            </a:endParaRPr>
          </a:p>
        </p:txBody>
      </p:sp>
      <p:pic>
        <p:nvPicPr>
          <p:cNvPr id="6" name="图片 5" descr="upload_post_object_v2_27759929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716558" y="7183201"/>
            <a:ext cx="2854884" cy="8423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个环节拆分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xyd-录播课ppt模板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l="24554" t="40776"/>
          <a:stretch>
            <a:fillRect/>
          </a:stretch>
        </p:blipFill>
        <p:spPr>
          <a:xfrm flipH="1">
            <a:off x="7581855" y="0"/>
            <a:ext cx="10706145" cy="6849499"/>
          </a:xfrm>
          <a:prstGeom prst="rect">
            <a:avLst/>
          </a:prstGeom>
        </p:spPr>
      </p:pic>
      <p:sp>
        <p:nvSpPr>
          <p:cNvPr id="21" name="Freeform 4"/>
          <p:cNvSpPr/>
          <p:nvPr userDrawn="1"/>
        </p:nvSpPr>
        <p:spPr>
          <a:xfrm>
            <a:off x="3329497" y="1731629"/>
            <a:ext cx="6969963" cy="1705935"/>
          </a:xfrm>
          <a:custGeom>
            <a:avLst/>
            <a:gdLst/>
            <a:ahLst/>
            <a:cxnLst/>
            <a:rect l="l" t="t" r="r" b="b"/>
            <a:pathLst>
              <a:path w="6969963" h="1705935">
                <a:moveTo>
                  <a:pt x="0" y="0"/>
                </a:moveTo>
                <a:lnTo>
                  <a:pt x="6969964" y="0"/>
                </a:lnTo>
                <a:lnTo>
                  <a:pt x="6969964" y="1705936"/>
                </a:lnTo>
                <a:lnTo>
                  <a:pt x="0" y="1705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2" name="Freeform 5"/>
          <p:cNvSpPr/>
          <p:nvPr userDrawn="1"/>
        </p:nvSpPr>
        <p:spPr>
          <a:xfrm>
            <a:off x="1814009" y="1731629"/>
            <a:ext cx="1673441" cy="1705935"/>
          </a:xfrm>
          <a:custGeom>
            <a:avLst/>
            <a:gdLst/>
            <a:ahLst/>
            <a:cxnLst/>
            <a:rect l="l" t="t" r="r" b="b"/>
            <a:pathLst>
              <a:path w="1673441" h="1705935">
                <a:moveTo>
                  <a:pt x="0" y="0"/>
                </a:moveTo>
                <a:lnTo>
                  <a:pt x="1673441" y="0"/>
                </a:lnTo>
                <a:lnTo>
                  <a:pt x="1673441" y="1705936"/>
                </a:lnTo>
                <a:lnTo>
                  <a:pt x="0" y="17059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4" name="TextBox 7"/>
          <p:cNvSpPr txBox="1"/>
          <p:nvPr userDrawn="1"/>
        </p:nvSpPr>
        <p:spPr>
          <a:xfrm>
            <a:off x="2066374" y="2240411"/>
            <a:ext cx="116871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 dirty="0">
                <a:solidFill>
                  <a:srgbClr val="326CFC"/>
                </a:solidFill>
                <a:latin typeface="思源黑体 2 Heavy"/>
              </a:rPr>
              <a:t>01</a:t>
            </a:r>
            <a:endParaRPr lang="en-US" sz="4800" dirty="0">
              <a:solidFill>
                <a:srgbClr val="326CFC"/>
              </a:solidFill>
              <a:latin typeface="思源黑体 2 Heavy"/>
            </a:endParaRPr>
          </a:p>
        </p:txBody>
      </p:sp>
      <p:sp>
        <p:nvSpPr>
          <p:cNvPr id="25" name="Freeform 8"/>
          <p:cNvSpPr/>
          <p:nvPr userDrawn="1"/>
        </p:nvSpPr>
        <p:spPr>
          <a:xfrm>
            <a:off x="3329497" y="3437565"/>
            <a:ext cx="6969963" cy="1705935"/>
          </a:xfrm>
          <a:custGeom>
            <a:avLst/>
            <a:gdLst/>
            <a:ahLst/>
            <a:cxnLst/>
            <a:rect l="l" t="t" r="r" b="b"/>
            <a:pathLst>
              <a:path w="6969963" h="1705935">
                <a:moveTo>
                  <a:pt x="0" y="0"/>
                </a:moveTo>
                <a:lnTo>
                  <a:pt x="6969964" y="0"/>
                </a:lnTo>
                <a:lnTo>
                  <a:pt x="6969964" y="1705935"/>
                </a:lnTo>
                <a:lnTo>
                  <a:pt x="0" y="17059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6" name="Freeform 9"/>
          <p:cNvSpPr/>
          <p:nvPr userDrawn="1"/>
        </p:nvSpPr>
        <p:spPr>
          <a:xfrm>
            <a:off x="1814009" y="3437565"/>
            <a:ext cx="1673441" cy="1705935"/>
          </a:xfrm>
          <a:custGeom>
            <a:avLst/>
            <a:gdLst/>
            <a:ahLst/>
            <a:cxnLst/>
            <a:rect l="l" t="t" r="r" b="b"/>
            <a:pathLst>
              <a:path w="1673441" h="1705935">
                <a:moveTo>
                  <a:pt x="0" y="0"/>
                </a:moveTo>
                <a:lnTo>
                  <a:pt x="1673441" y="0"/>
                </a:lnTo>
                <a:lnTo>
                  <a:pt x="1673441" y="1705935"/>
                </a:lnTo>
                <a:lnTo>
                  <a:pt x="0" y="17059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8" name="TextBox 11"/>
          <p:cNvSpPr txBox="1"/>
          <p:nvPr userDrawn="1"/>
        </p:nvSpPr>
        <p:spPr>
          <a:xfrm>
            <a:off x="2066374" y="3946346"/>
            <a:ext cx="116871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>
                <a:solidFill>
                  <a:srgbClr val="326CFC"/>
                </a:solidFill>
                <a:latin typeface="思源黑体 2 Heavy"/>
              </a:rPr>
              <a:t>02</a:t>
            </a:r>
            <a:endParaRPr lang="en-US" sz="4800">
              <a:solidFill>
                <a:srgbClr val="326CFC"/>
              </a:solidFill>
              <a:latin typeface="思源黑体 2 Heavy"/>
            </a:endParaRPr>
          </a:p>
        </p:txBody>
      </p:sp>
      <p:pic>
        <p:nvPicPr>
          <p:cNvPr id="37" name="图片 36" descr="upload_post_object_v2_156234910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4052541" y="972988"/>
            <a:ext cx="2639967" cy="758731"/>
          </a:xfrm>
          <a:prstGeom prst="rect">
            <a:avLst/>
          </a:prstGeom>
        </p:spPr>
      </p:pic>
      <p:sp>
        <p:nvSpPr>
          <p:cNvPr id="38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3937747" y="2240411"/>
            <a:ext cx="3962400" cy="98780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000"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</a:lstStyle>
          <a:p>
            <a:pPr lvl="0"/>
            <a:r>
              <a:rPr lang="en-US" altLang="zh-CN" dirty="0"/>
              <a:t>if</a:t>
            </a:r>
            <a:r>
              <a:rPr lang="zh-CN" altLang="en-US" dirty="0"/>
              <a:t>单分支结构</a:t>
            </a:r>
            <a:endParaRPr lang="zh-CN" altLang="en-US" dirty="0"/>
          </a:p>
        </p:txBody>
      </p:sp>
      <p:sp>
        <p:nvSpPr>
          <p:cNvPr id="39" name="文本占位符 34"/>
          <p:cNvSpPr>
            <a:spLocks noGrp="1"/>
          </p:cNvSpPr>
          <p:nvPr>
            <p:ph type="body" sz="quarter" idx="11" hasCustomPrompt="1"/>
          </p:nvPr>
        </p:nvSpPr>
        <p:spPr>
          <a:xfrm>
            <a:off x="3937746" y="3946346"/>
            <a:ext cx="5053853" cy="94547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000"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</a:lstStyle>
          <a:p>
            <a:pPr lvl="0"/>
            <a:r>
              <a:rPr lang="en-US" altLang="zh-CN" dirty="0"/>
              <a:t>if-else</a:t>
            </a:r>
            <a:r>
              <a:rPr lang="zh-CN" altLang="en-US" dirty="0"/>
              <a:t>双分支结构</a:t>
            </a:r>
            <a:endParaRPr lang="zh-CN" altLang="en-US" dirty="0"/>
          </a:p>
        </p:txBody>
      </p:sp>
      <p:sp>
        <p:nvSpPr>
          <p:cNvPr id="44" name="文本占位符 43"/>
          <p:cNvSpPr>
            <a:spLocks noGrp="1"/>
          </p:cNvSpPr>
          <p:nvPr>
            <p:ph type="body" sz="quarter" idx="14" hasCustomPrompt="1"/>
          </p:nvPr>
        </p:nvSpPr>
        <p:spPr>
          <a:xfrm>
            <a:off x="11830931" y="5143500"/>
            <a:ext cx="3648626" cy="973052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rgbClr val="326CFC"/>
                </a:solidFill>
                <a:latin typeface="思源黑体 Heavy" panose="020B0A00000000000000" pitchFamily="34" charset="-122"/>
                <a:ea typeface="思源黑体 Heavy" panose="020B0A00000000000000" pitchFamily="34" charset="-122"/>
              </a:defRPr>
            </a:lvl1pPr>
          </a:lstStyle>
          <a:p>
            <a:pPr lvl="0"/>
            <a:r>
              <a:rPr lang="zh-CN" altLang="en-US" dirty="0"/>
              <a:t>新知讲解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8" grpId="0"/>
      <p:bldP spid="3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个环节拆分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xyd-录播课ppt模板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l="24554" t="40776"/>
          <a:stretch>
            <a:fillRect/>
          </a:stretch>
        </p:blipFill>
        <p:spPr>
          <a:xfrm flipH="1">
            <a:off x="7581855" y="0"/>
            <a:ext cx="10706145" cy="6849499"/>
          </a:xfrm>
          <a:prstGeom prst="rect">
            <a:avLst/>
          </a:prstGeom>
        </p:spPr>
      </p:pic>
      <p:sp>
        <p:nvSpPr>
          <p:cNvPr id="21" name="Freeform 4"/>
          <p:cNvSpPr/>
          <p:nvPr userDrawn="1"/>
        </p:nvSpPr>
        <p:spPr>
          <a:xfrm>
            <a:off x="3329497" y="1731629"/>
            <a:ext cx="6969963" cy="1705935"/>
          </a:xfrm>
          <a:custGeom>
            <a:avLst/>
            <a:gdLst/>
            <a:ahLst/>
            <a:cxnLst/>
            <a:rect l="l" t="t" r="r" b="b"/>
            <a:pathLst>
              <a:path w="6969963" h="1705935">
                <a:moveTo>
                  <a:pt x="0" y="0"/>
                </a:moveTo>
                <a:lnTo>
                  <a:pt x="6969964" y="0"/>
                </a:lnTo>
                <a:lnTo>
                  <a:pt x="6969964" y="1705936"/>
                </a:lnTo>
                <a:lnTo>
                  <a:pt x="0" y="1705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2" name="Freeform 5"/>
          <p:cNvSpPr/>
          <p:nvPr userDrawn="1"/>
        </p:nvSpPr>
        <p:spPr>
          <a:xfrm>
            <a:off x="1814009" y="1731629"/>
            <a:ext cx="1673441" cy="1705935"/>
          </a:xfrm>
          <a:custGeom>
            <a:avLst/>
            <a:gdLst/>
            <a:ahLst/>
            <a:cxnLst/>
            <a:rect l="l" t="t" r="r" b="b"/>
            <a:pathLst>
              <a:path w="1673441" h="1705935">
                <a:moveTo>
                  <a:pt x="0" y="0"/>
                </a:moveTo>
                <a:lnTo>
                  <a:pt x="1673441" y="0"/>
                </a:lnTo>
                <a:lnTo>
                  <a:pt x="1673441" y="1705936"/>
                </a:lnTo>
                <a:lnTo>
                  <a:pt x="0" y="17059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4" name="TextBox 7"/>
          <p:cNvSpPr txBox="1"/>
          <p:nvPr userDrawn="1"/>
        </p:nvSpPr>
        <p:spPr>
          <a:xfrm>
            <a:off x="2066374" y="2240411"/>
            <a:ext cx="116871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>
                <a:solidFill>
                  <a:srgbClr val="326CFC"/>
                </a:solidFill>
                <a:latin typeface="思源黑体 2 Heavy"/>
              </a:rPr>
              <a:t>01</a:t>
            </a:r>
            <a:endParaRPr lang="en-US" sz="4800">
              <a:solidFill>
                <a:srgbClr val="326CFC"/>
              </a:solidFill>
              <a:latin typeface="思源黑体 2 Heavy"/>
            </a:endParaRPr>
          </a:p>
        </p:txBody>
      </p:sp>
      <p:sp>
        <p:nvSpPr>
          <p:cNvPr id="25" name="Freeform 8"/>
          <p:cNvSpPr/>
          <p:nvPr userDrawn="1"/>
        </p:nvSpPr>
        <p:spPr>
          <a:xfrm>
            <a:off x="3329497" y="3437565"/>
            <a:ext cx="6969963" cy="1705935"/>
          </a:xfrm>
          <a:custGeom>
            <a:avLst/>
            <a:gdLst/>
            <a:ahLst/>
            <a:cxnLst/>
            <a:rect l="l" t="t" r="r" b="b"/>
            <a:pathLst>
              <a:path w="6969963" h="1705935">
                <a:moveTo>
                  <a:pt x="0" y="0"/>
                </a:moveTo>
                <a:lnTo>
                  <a:pt x="6969964" y="0"/>
                </a:lnTo>
                <a:lnTo>
                  <a:pt x="6969964" y="1705935"/>
                </a:lnTo>
                <a:lnTo>
                  <a:pt x="0" y="17059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6" name="Freeform 9"/>
          <p:cNvSpPr/>
          <p:nvPr userDrawn="1"/>
        </p:nvSpPr>
        <p:spPr>
          <a:xfrm>
            <a:off x="1814009" y="3437565"/>
            <a:ext cx="1673441" cy="1705935"/>
          </a:xfrm>
          <a:custGeom>
            <a:avLst/>
            <a:gdLst/>
            <a:ahLst/>
            <a:cxnLst/>
            <a:rect l="l" t="t" r="r" b="b"/>
            <a:pathLst>
              <a:path w="1673441" h="1705935">
                <a:moveTo>
                  <a:pt x="0" y="0"/>
                </a:moveTo>
                <a:lnTo>
                  <a:pt x="1673441" y="0"/>
                </a:lnTo>
                <a:lnTo>
                  <a:pt x="1673441" y="1705935"/>
                </a:lnTo>
                <a:lnTo>
                  <a:pt x="0" y="17059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8" name="TextBox 11"/>
          <p:cNvSpPr txBox="1"/>
          <p:nvPr userDrawn="1"/>
        </p:nvSpPr>
        <p:spPr>
          <a:xfrm>
            <a:off x="2066374" y="3946346"/>
            <a:ext cx="116871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>
                <a:solidFill>
                  <a:srgbClr val="326CFC"/>
                </a:solidFill>
                <a:latin typeface="思源黑体 2 Heavy"/>
              </a:rPr>
              <a:t>02</a:t>
            </a:r>
            <a:endParaRPr lang="en-US" sz="4800">
              <a:solidFill>
                <a:srgbClr val="326CFC"/>
              </a:solidFill>
              <a:latin typeface="思源黑体 2 Heavy"/>
            </a:endParaRPr>
          </a:p>
        </p:txBody>
      </p:sp>
      <p:sp>
        <p:nvSpPr>
          <p:cNvPr id="29" name="Freeform 12"/>
          <p:cNvSpPr/>
          <p:nvPr userDrawn="1"/>
        </p:nvSpPr>
        <p:spPr>
          <a:xfrm>
            <a:off x="3329497" y="5143500"/>
            <a:ext cx="6969963" cy="1705935"/>
          </a:xfrm>
          <a:custGeom>
            <a:avLst/>
            <a:gdLst/>
            <a:ahLst/>
            <a:cxnLst/>
            <a:rect l="l" t="t" r="r" b="b"/>
            <a:pathLst>
              <a:path w="6969963" h="1705935">
                <a:moveTo>
                  <a:pt x="0" y="0"/>
                </a:moveTo>
                <a:lnTo>
                  <a:pt x="6969964" y="0"/>
                </a:lnTo>
                <a:lnTo>
                  <a:pt x="6969964" y="1705935"/>
                </a:lnTo>
                <a:lnTo>
                  <a:pt x="0" y="17059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0" name="Freeform 13"/>
          <p:cNvSpPr/>
          <p:nvPr userDrawn="1"/>
        </p:nvSpPr>
        <p:spPr>
          <a:xfrm>
            <a:off x="1814009" y="5143500"/>
            <a:ext cx="1673441" cy="1705935"/>
          </a:xfrm>
          <a:custGeom>
            <a:avLst/>
            <a:gdLst/>
            <a:ahLst/>
            <a:cxnLst/>
            <a:rect l="l" t="t" r="r" b="b"/>
            <a:pathLst>
              <a:path w="1673441" h="1705935">
                <a:moveTo>
                  <a:pt x="0" y="0"/>
                </a:moveTo>
                <a:lnTo>
                  <a:pt x="1673441" y="0"/>
                </a:lnTo>
                <a:lnTo>
                  <a:pt x="1673441" y="1705935"/>
                </a:lnTo>
                <a:lnTo>
                  <a:pt x="0" y="17059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2" name="TextBox 15"/>
          <p:cNvSpPr txBox="1"/>
          <p:nvPr userDrawn="1"/>
        </p:nvSpPr>
        <p:spPr>
          <a:xfrm>
            <a:off x="2066374" y="5652282"/>
            <a:ext cx="116871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>
                <a:solidFill>
                  <a:srgbClr val="326CFC"/>
                </a:solidFill>
                <a:latin typeface="思源黑体 2 Heavy"/>
              </a:rPr>
              <a:t>03</a:t>
            </a:r>
            <a:endParaRPr lang="en-US" sz="4800">
              <a:solidFill>
                <a:srgbClr val="326CFC"/>
              </a:solidFill>
              <a:latin typeface="思源黑体 2 Heavy"/>
            </a:endParaRPr>
          </a:p>
        </p:txBody>
      </p:sp>
      <p:pic>
        <p:nvPicPr>
          <p:cNvPr id="37" name="图片 36" descr="upload_post_object_v2_156234910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4052541" y="972988"/>
            <a:ext cx="2639967" cy="758731"/>
          </a:xfrm>
          <a:prstGeom prst="rect">
            <a:avLst/>
          </a:prstGeom>
        </p:spPr>
      </p:pic>
      <p:sp>
        <p:nvSpPr>
          <p:cNvPr id="38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3937747" y="2240411"/>
            <a:ext cx="3962400" cy="98780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000"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</a:lstStyle>
          <a:p>
            <a:pPr lvl="0"/>
            <a:r>
              <a:rPr lang="en-US" altLang="zh-CN" dirty="0"/>
              <a:t>if</a:t>
            </a:r>
            <a:r>
              <a:rPr lang="zh-CN" altLang="en-US" dirty="0"/>
              <a:t>单分支结构</a:t>
            </a:r>
            <a:endParaRPr lang="zh-CN" altLang="en-US" dirty="0"/>
          </a:p>
        </p:txBody>
      </p:sp>
      <p:sp>
        <p:nvSpPr>
          <p:cNvPr id="39" name="文本占位符 34"/>
          <p:cNvSpPr>
            <a:spLocks noGrp="1"/>
          </p:cNvSpPr>
          <p:nvPr>
            <p:ph type="body" sz="quarter" idx="11" hasCustomPrompt="1"/>
          </p:nvPr>
        </p:nvSpPr>
        <p:spPr>
          <a:xfrm>
            <a:off x="3937746" y="3946346"/>
            <a:ext cx="4977653" cy="94547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000"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</a:lstStyle>
          <a:p>
            <a:pPr lvl="0"/>
            <a:r>
              <a:rPr lang="en-US" altLang="zh-CN" dirty="0"/>
              <a:t>if-else</a:t>
            </a:r>
            <a:r>
              <a:rPr lang="zh-CN" altLang="en-US" dirty="0"/>
              <a:t>双分支结构</a:t>
            </a:r>
            <a:endParaRPr lang="zh-CN" altLang="en-US" dirty="0"/>
          </a:p>
        </p:txBody>
      </p:sp>
      <p:sp>
        <p:nvSpPr>
          <p:cNvPr id="40" name="文本占位符 34"/>
          <p:cNvSpPr>
            <a:spLocks noGrp="1"/>
          </p:cNvSpPr>
          <p:nvPr>
            <p:ph type="body" sz="quarter" idx="12" hasCustomPrompt="1"/>
          </p:nvPr>
        </p:nvSpPr>
        <p:spPr>
          <a:xfrm>
            <a:off x="3937747" y="5647738"/>
            <a:ext cx="3962400" cy="95001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000"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</a:lstStyle>
          <a:p>
            <a:pPr lvl="0"/>
            <a:r>
              <a:rPr lang="zh-CN" altLang="en-US" dirty="0"/>
              <a:t>分支嵌套</a:t>
            </a:r>
            <a:endParaRPr lang="zh-CN" altLang="en-US" dirty="0"/>
          </a:p>
        </p:txBody>
      </p:sp>
      <p:sp>
        <p:nvSpPr>
          <p:cNvPr id="44" name="文本占位符 43"/>
          <p:cNvSpPr>
            <a:spLocks noGrp="1"/>
          </p:cNvSpPr>
          <p:nvPr>
            <p:ph type="body" sz="quarter" idx="14" hasCustomPrompt="1"/>
          </p:nvPr>
        </p:nvSpPr>
        <p:spPr>
          <a:xfrm>
            <a:off x="11830931" y="5143500"/>
            <a:ext cx="3648626" cy="973052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rgbClr val="326CFC"/>
                </a:solidFill>
                <a:latin typeface="思源黑体 Heavy" panose="020B0A00000000000000" pitchFamily="34" charset="-122"/>
                <a:ea typeface="思源黑体 Heavy" panose="020B0A00000000000000" pitchFamily="34" charset="-122"/>
              </a:defRPr>
            </a:lvl1pPr>
          </a:lstStyle>
          <a:p>
            <a:pPr lvl="0"/>
            <a:r>
              <a:rPr lang="zh-CN" altLang="en-US" dirty="0"/>
              <a:t>新知讲解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8" grpId="0"/>
      <p:bldP spid="32" grpId="0"/>
      <p:bldP spid="3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个环节拆分目录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xyd-录播课ppt模板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l="24554" t="40776"/>
          <a:stretch>
            <a:fillRect/>
          </a:stretch>
        </p:blipFill>
        <p:spPr>
          <a:xfrm flipH="1">
            <a:off x="7581855" y="0"/>
            <a:ext cx="10706145" cy="6849499"/>
          </a:xfrm>
          <a:prstGeom prst="rect">
            <a:avLst/>
          </a:prstGeom>
        </p:spPr>
      </p:pic>
      <p:sp>
        <p:nvSpPr>
          <p:cNvPr id="21" name="Freeform 4"/>
          <p:cNvSpPr/>
          <p:nvPr userDrawn="1"/>
        </p:nvSpPr>
        <p:spPr>
          <a:xfrm>
            <a:off x="3329497" y="1731629"/>
            <a:ext cx="6969963" cy="1705935"/>
          </a:xfrm>
          <a:custGeom>
            <a:avLst/>
            <a:gdLst/>
            <a:ahLst/>
            <a:cxnLst/>
            <a:rect l="l" t="t" r="r" b="b"/>
            <a:pathLst>
              <a:path w="6969963" h="1705935">
                <a:moveTo>
                  <a:pt x="0" y="0"/>
                </a:moveTo>
                <a:lnTo>
                  <a:pt x="6969964" y="0"/>
                </a:lnTo>
                <a:lnTo>
                  <a:pt x="6969964" y="1705936"/>
                </a:lnTo>
                <a:lnTo>
                  <a:pt x="0" y="1705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2" name="Freeform 5"/>
          <p:cNvSpPr/>
          <p:nvPr userDrawn="1"/>
        </p:nvSpPr>
        <p:spPr>
          <a:xfrm>
            <a:off x="1814009" y="1731629"/>
            <a:ext cx="1673441" cy="1705935"/>
          </a:xfrm>
          <a:custGeom>
            <a:avLst/>
            <a:gdLst/>
            <a:ahLst/>
            <a:cxnLst/>
            <a:rect l="l" t="t" r="r" b="b"/>
            <a:pathLst>
              <a:path w="1673441" h="1705935">
                <a:moveTo>
                  <a:pt x="0" y="0"/>
                </a:moveTo>
                <a:lnTo>
                  <a:pt x="1673441" y="0"/>
                </a:lnTo>
                <a:lnTo>
                  <a:pt x="1673441" y="1705936"/>
                </a:lnTo>
                <a:lnTo>
                  <a:pt x="0" y="17059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4" name="TextBox 7"/>
          <p:cNvSpPr txBox="1"/>
          <p:nvPr userDrawn="1"/>
        </p:nvSpPr>
        <p:spPr>
          <a:xfrm>
            <a:off x="2066374" y="2240411"/>
            <a:ext cx="116871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>
                <a:solidFill>
                  <a:srgbClr val="326CFC"/>
                </a:solidFill>
                <a:latin typeface="思源黑体 2 Heavy"/>
              </a:rPr>
              <a:t>01</a:t>
            </a:r>
            <a:endParaRPr lang="en-US" sz="4800">
              <a:solidFill>
                <a:srgbClr val="326CFC"/>
              </a:solidFill>
              <a:latin typeface="思源黑体 2 Heavy"/>
            </a:endParaRPr>
          </a:p>
        </p:txBody>
      </p:sp>
      <p:sp>
        <p:nvSpPr>
          <p:cNvPr id="25" name="Freeform 8"/>
          <p:cNvSpPr/>
          <p:nvPr userDrawn="1"/>
        </p:nvSpPr>
        <p:spPr>
          <a:xfrm>
            <a:off x="3329497" y="3437565"/>
            <a:ext cx="6969963" cy="1705935"/>
          </a:xfrm>
          <a:custGeom>
            <a:avLst/>
            <a:gdLst/>
            <a:ahLst/>
            <a:cxnLst/>
            <a:rect l="l" t="t" r="r" b="b"/>
            <a:pathLst>
              <a:path w="6969963" h="1705935">
                <a:moveTo>
                  <a:pt x="0" y="0"/>
                </a:moveTo>
                <a:lnTo>
                  <a:pt x="6969964" y="0"/>
                </a:lnTo>
                <a:lnTo>
                  <a:pt x="6969964" y="1705935"/>
                </a:lnTo>
                <a:lnTo>
                  <a:pt x="0" y="17059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6" name="Freeform 9"/>
          <p:cNvSpPr/>
          <p:nvPr userDrawn="1"/>
        </p:nvSpPr>
        <p:spPr>
          <a:xfrm>
            <a:off x="1814009" y="3437565"/>
            <a:ext cx="1673441" cy="1705935"/>
          </a:xfrm>
          <a:custGeom>
            <a:avLst/>
            <a:gdLst/>
            <a:ahLst/>
            <a:cxnLst/>
            <a:rect l="l" t="t" r="r" b="b"/>
            <a:pathLst>
              <a:path w="1673441" h="1705935">
                <a:moveTo>
                  <a:pt x="0" y="0"/>
                </a:moveTo>
                <a:lnTo>
                  <a:pt x="1673441" y="0"/>
                </a:lnTo>
                <a:lnTo>
                  <a:pt x="1673441" y="1705935"/>
                </a:lnTo>
                <a:lnTo>
                  <a:pt x="0" y="17059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8" name="TextBox 11"/>
          <p:cNvSpPr txBox="1"/>
          <p:nvPr userDrawn="1"/>
        </p:nvSpPr>
        <p:spPr>
          <a:xfrm>
            <a:off x="2066374" y="3946346"/>
            <a:ext cx="116871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>
                <a:solidFill>
                  <a:srgbClr val="326CFC"/>
                </a:solidFill>
                <a:latin typeface="思源黑体 2 Heavy"/>
              </a:rPr>
              <a:t>02</a:t>
            </a:r>
            <a:endParaRPr lang="en-US" sz="4800">
              <a:solidFill>
                <a:srgbClr val="326CFC"/>
              </a:solidFill>
              <a:latin typeface="思源黑体 2 Heavy"/>
            </a:endParaRPr>
          </a:p>
        </p:txBody>
      </p:sp>
      <p:sp>
        <p:nvSpPr>
          <p:cNvPr id="29" name="Freeform 12"/>
          <p:cNvSpPr/>
          <p:nvPr userDrawn="1"/>
        </p:nvSpPr>
        <p:spPr>
          <a:xfrm>
            <a:off x="3329497" y="5143500"/>
            <a:ext cx="6969963" cy="1705935"/>
          </a:xfrm>
          <a:custGeom>
            <a:avLst/>
            <a:gdLst/>
            <a:ahLst/>
            <a:cxnLst/>
            <a:rect l="l" t="t" r="r" b="b"/>
            <a:pathLst>
              <a:path w="6969963" h="1705935">
                <a:moveTo>
                  <a:pt x="0" y="0"/>
                </a:moveTo>
                <a:lnTo>
                  <a:pt x="6969964" y="0"/>
                </a:lnTo>
                <a:lnTo>
                  <a:pt x="6969964" y="1705935"/>
                </a:lnTo>
                <a:lnTo>
                  <a:pt x="0" y="17059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0" name="Freeform 13"/>
          <p:cNvSpPr/>
          <p:nvPr userDrawn="1"/>
        </p:nvSpPr>
        <p:spPr>
          <a:xfrm>
            <a:off x="1814009" y="5143500"/>
            <a:ext cx="1673441" cy="1705935"/>
          </a:xfrm>
          <a:custGeom>
            <a:avLst/>
            <a:gdLst/>
            <a:ahLst/>
            <a:cxnLst/>
            <a:rect l="l" t="t" r="r" b="b"/>
            <a:pathLst>
              <a:path w="1673441" h="1705935">
                <a:moveTo>
                  <a:pt x="0" y="0"/>
                </a:moveTo>
                <a:lnTo>
                  <a:pt x="1673441" y="0"/>
                </a:lnTo>
                <a:lnTo>
                  <a:pt x="1673441" y="1705935"/>
                </a:lnTo>
                <a:lnTo>
                  <a:pt x="0" y="17059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2" name="TextBox 15"/>
          <p:cNvSpPr txBox="1"/>
          <p:nvPr userDrawn="1"/>
        </p:nvSpPr>
        <p:spPr>
          <a:xfrm>
            <a:off x="2066374" y="5652282"/>
            <a:ext cx="116871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>
                <a:solidFill>
                  <a:srgbClr val="326CFC"/>
                </a:solidFill>
                <a:latin typeface="思源黑体 2 Heavy"/>
              </a:rPr>
              <a:t>03</a:t>
            </a:r>
            <a:endParaRPr lang="en-US" sz="4800">
              <a:solidFill>
                <a:srgbClr val="326CFC"/>
              </a:solidFill>
              <a:latin typeface="思源黑体 2 Heavy"/>
            </a:endParaRPr>
          </a:p>
        </p:txBody>
      </p:sp>
      <p:sp>
        <p:nvSpPr>
          <p:cNvPr id="33" name="Freeform 16"/>
          <p:cNvSpPr/>
          <p:nvPr userDrawn="1"/>
        </p:nvSpPr>
        <p:spPr>
          <a:xfrm>
            <a:off x="3329497" y="6849435"/>
            <a:ext cx="6969963" cy="1705935"/>
          </a:xfrm>
          <a:custGeom>
            <a:avLst/>
            <a:gdLst/>
            <a:ahLst/>
            <a:cxnLst/>
            <a:rect l="l" t="t" r="r" b="b"/>
            <a:pathLst>
              <a:path w="6969963" h="1705935">
                <a:moveTo>
                  <a:pt x="0" y="0"/>
                </a:moveTo>
                <a:lnTo>
                  <a:pt x="6969964" y="0"/>
                </a:lnTo>
                <a:lnTo>
                  <a:pt x="6969964" y="1705936"/>
                </a:lnTo>
                <a:lnTo>
                  <a:pt x="0" y="1705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4" name="Freeform 17"/>
          <p:cNvSpPr/>
          <p:nvPr userDrawn="1"/>
        </p:nvSpPr>
        <p:spPr>
          <a:xfrm>
            <a:off x="1814009" y="6849435"/>
            <a:ext cx="1673441" cy="1705935"/>
          </a:xfrm>
          <a:custGeom>
            <a:avLst/>
            <a:gdLst/>
            <a:ahLst/>
            <a:cxnLst/>
            <a:rect l="l" t="t" r="r" b="b"/>
            <a:pathLst>
              <a:path w="1673441" h="1705935">
                <a:moveTo>
                  <a:pt x="0" y="0"/>
                </a:moveTo>
                <a:lnTo>
                  <a:pt x="1673441" y="0"/>
                </a:lnTo>
                <a:lnTo>
                  <a:pt x="1673441" y="1705936"/>
                </a:lnTo>
                <a:lnTo>
                  <a:pt x="0" y="17059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6" name="TextBox 19"/>
          <p:cNvSpPr txBox="1"/>
          <p:nvPr userDrawn="1"/>
        </p:nvSpPr>
        <p:spPr>
          <a:xfrm>
            <a:off x="2066374" y="7358217"/>
            <a:ext cx="116871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>
                <a:solidFill>
                  <a:srgbClr val="326CFC"/>
                </a:solidFill>
                <a:latin typeface="思源黑体 2 Heavy"/>
              </a:rPr>
              <a:t>04</a:t>
            </a:r>
            <a:endParaRPr lang="en-US" sz="4800">
              <a:solidFill>
                <a:srgbClr val="326CFC"/>
              </a:solidFill>
              <a:latin typeface="思源黑体 2 Heavy"/>
            </a:endParaRPr>
          </a:p>
        </p:txBody>
      </p:sp>
      <p:pic>
        <p:nvPicPr>
          <p:cNvPr id="37" name="图片 36" descr="upload_post_object_v2_156234910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4052541" y="972988"/>
            <a:ext cx="2639967" cy="758731"/>
          </a:xfrm>
          <a:prstGeom prst="rect">
            <a:avLst/>
          </a:prstGeom>
        </p:spPr>
      </p:pic>
      <p:sp>
        <p:nvSpPr>
          <p:cNvPr id="38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3937747" y="2240411"/>
            <a:ext cx="3962400" cy="98780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000"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</a:lstStyle>
          <a:p>
            <a:pPr lvl="0"/>
            <a:r>
              <a:rPr lang="en-US" altLang="zh-CN" dirty="0"/>
              <a:t>if</a:t>
            </a:r>
            <a:r>
              <a:rPr lang="zh-CN" altLang="en-US" dirty="0"/>
              <a:t>单分支结构</a:t>
            </a:r>
            <a:endParaRPr lang="zh-CN" altLang="en-US" dirty="0"/>
          </a:p>
        </p:txBody>
      </p:sp>
      <p:sp>
        <p:nvSpPr>
          <p:cNvPr id="39" name="文本占位符 34"/>
          <p:cNvSpPr>
            <a:spLocks noGrp="1"/>
          </p:cNvSpPr>
          <p:nvPr>
            <p:ph type="body" sz="quarter" idx="11" hasCustomPrompt="1"/>
          </p:nvPr>
        </p:nvSpPr>
        <p:spPr>
          <a:xfrm>
            <a:off x="3937746" y="3946346"/>
            <a:ext cx="5282453" cy="94547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000"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</a:lstStyle>
          <a:p>
            <a:pPr lvl="0"/>
            <a:r>
              <a:rPr lang="en-US" altLang="zh-CN" dirty="0"/>
              <a:t>if-else</a:t>
            </a:r>
            <a:r>
              <a:rPr lang="zh-CN" altLang="en-US" dirty="0"/>
              <a:t>双分支结构</a:t>
            </a:r>
            <a:endParaRPr lang="zh-CN" altLang="en-US" dirty="0"/>
          </a:p>
        </p:txBody>
      </p:sp>
      <p:sp>
        <p:nvSpPr>
          <p:cNvPr id="40" name="文本占位符 34"/>
          <p:cNvSpPr>
            <a:spLocks noGrp="1"/>
          </p:cNvSpPr>
          <p:nvPr>
            <p:ph type="body" sz="quarter" idx="12" hasCustomPrompt="1"/>
          </p:nvPr>
        </p:nvSpPr>
        <p:spPr>
          <a:xfrm>
            <a:off x="3937747" y="5647738"/>
            <a:ext cx="3962400" cy="95001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000"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</a:lstStyle>
          <a:p>
            <a:pPr lvl="0"/>
            <a:r>
              <a:rPr lang="zh-CN" altLang="en-US" dirty="0"/>
              <a:t>分支嵌套</a:t>
            </a:r>
            <a:endParaRPr lang="zh-CN" altLang="en-US" dirty="0"/>
          </a:p>
        </p:txBody>
      </p:sp>
      <p:sp>
        <p:nvSpPr>
          <p:cNvPr id="41" name="文本占位符 34"/>
          <p:cNvSpPr>
            <a:spLocks noGrp="1"/>
          </p:cNvSpPr>
          <p:nvPr>
            <p:ph type="body" sz="quarter" idx="13" hasCustomPrompt="1"/>
          </p:nvPr>
        </p:nvSpPr>
        <p:spPr>
          <a:xfrm>
            <a:off x="3937746" y="7353673"/>
            <a:ext cx="6196853" cy="9545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000"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</a:lstStyle>
          <a:p>
            <a:pPr lvl="0"/>
            <a:r>
              <a:rPr lang="en-US" altLang="zh-CN" dirty="0"/>
              <a:t>if-else </a:t>
            </a:r>
            <a:r>
              <a:rPr lang="en-US" altLang="zh-CN" dirty="0" err="1"/>
              <a:t>if-else</a:t>
            </a:r>
            <a:r>
              <a:rPr lang="zh-CN" altLang="en-US" dirty="0"/>
              <a:t>多分支结构</a:t>
            </a:r>
            <a:endParaRPr lang="zh-CN" altLang="en-US" dirty="0"/>
          </a:p>
        </p:txBody>
      </p:sp>
      <p:sp>
        <p:nvSpPr>
          <p:cNvPr id="44" name="文本占位符 43"/>
          <p:cNvSpPr>
            <a:spLocks noGrp="1"/>
          </p:cNvSpPr>
          <p:nvPr>
            <p:ph type="body" sz="quarter" idx="14" hasCustomPrompt="1"/>
          </p:nvPr>
        </p:nvSpPr>
        <p:spPr>
          <a:xfrm>
            <a:off x="11830931" y="5143500"/>
            <a:ext cx="3648626" cy="973052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rgbClr val="326CFC"/>
                </a:solidFill>
                <a:latin typeface="思源黑体 Heavy" panose="020B0A00000000000000" pitchFamily="34" charset="-122"/>
                <a:ea typeface="思源黑体 Heavy" panose="020B0A00000000000000" pitchFamily="34" charset="-122"/>
              </a:defRPr>
            </a:lvl1pPr>
          </a:lstStyle>
          <a:p>
            <a:pPr lvl="0"/>
            <a:r>
              <a:rPr lang="zh-CN" altLang="en-US" dirty="0"/>
              <a:t>新知讲解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8" grpId="0"/>
      <p:bldP spid="32" grpId="0"/>
      <p:bldP spid="36" grpId="0"/>
      <p:bldP spid="3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22.png"/><Relationship Id="rId3" Type="http://schemas.openxmlformats.org/officeDocument/2006/relationships/tags" Target="../tags/tag4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树状数组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7391400" y="3771900"/>
            <a:ext cx="393446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2400" b="0" i="0">
                <a:solidFill>
                  <a:srgbClr val="404040"/>
                </a:solidFill>
                <a:latin typeface="-apple-system"/>
                <a:ea typeface="-apple-system"/>
              </a:rPr>
              <a:t>弱化但是好写的</a:t>
            </a:r>
            <a:r>
              <a:rPr lang="zh-CN" altLang="en-US" sz="2400" b="0" i="0">
                <a:solidFill>
                  <a:srgbClr val="404040"/>
                </a:solidFill>
                <a:latin typeface="-apple-system"/>
                <a:ea typeface="-apple-system"/>
              </a:rPr>
              <a:t>线段树</a:t>
            </a:r>
            <a:endParaRPr lang="zh-CN" altLang="en-US" sz="2400" b="0" i="0">
              <a:solidFill>
                <a:srgbClr val="404040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树状数组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综合练习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课堂小结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树状数组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371600" y="394335"/>
            <a:ext cx="5212080" cy="711200"/>
          </a:xfrm>
        </p:spPr>
        <p:txBody>
          <a:bodyPr>
            <a:normAutofit/>
          </a:bodyPr>
          <a:lstStyle/>
          <a:p>
            <a:r>
              <a:rPr lang="zh-CN" altLang="en-US"/>
              <a:t>例题引入</a:t>
            </a:r>
            <a:r>
              <a:rPr lang="en-US" altLang="zh-CN"/>
              <a:t> </a:t>
            </a:r>
            <a:r>
              <a:rPr lang="zh-CN" altLang="en-US"/>
              <a:t>洛谷</a:t>
            </a:r>
            <a:r>
              <a:rPr lang="en-US" altLang="zh-CN"/>
              <a:t>P3374 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676400" y="1572260"/>
            <a:ext cx="10645140" cy="463804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zh-CN" altLang="en-US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已知一个数列</a:t>
            </a:r>
            <a:r>
              <a:rPr lang="en-US" altLang="zh-CN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,</a:t>
            </a:r>
            <a:r>
              <a:rPr lang="zh-CN" altLang="en-US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你需要执行</a:t>
            </a:r>
            <a:r>
              <a:rPr lang="zh-CN" altLang="en-US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以下两个操作若干次</a:t>
            </a:r>
            <a:endParaRPr lang="zh-CN" altLang="en-US" sz="3600" b="0" i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/>
            <a:r>
              <a:rPr lang="zh-CN" altLang="en-US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操作</a:t>
            </a:r>
            <a:r>
              <a:rPr lang="en-US" altLang="zh-CN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1:</a:t>
            </a:r>
            <a:r>
              <a:rPr lang="zh-CN" altLang="en-US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给某个数都加上某个值</a:t>
            </a:r>
            <a:endParaRPr lang="zh-CN" altLang="en-US" sz="3600" b="0" i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/>
            <a:r>
              <a:rPr lang="zh-CN" altLang="en-US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如</a:t>
            </a:r>
            <a:r>
              <a:rPr lang="en-US" altLang="zh-CN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1 2 3</a:t>
            </a:r>
            <a:r>
              <a:rPr lang="zh-CN" altLang="en-US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表示要给下标为</a:t>
            </a:r>
            <a:r>
              <a:rPr lang="en-US" altLang="zh-CN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lang="zh-CN" altLang="en-US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的元素加上</a:t>
            </a:r>
            <a:r>
              <a:rPr lang="en-US" altLang="zh-CN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</a:t>
            </a:r>
            <a:endParaRPr lang="en-US" altLang="zh-CN" sz="3600" b="0" i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/>
            <a:endParaRPr lang="zh-CN" altLang="en-US" sz="3600" b="0" i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/>
            <a:r>
              <a:rPr lang="zh-CN" altLang="en-US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操作</a:t>
            </a:r>
            <a:r>
              <a:rPr lang="en-US" altLang="zh-CN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2:</a:t>
            </a:r>
            <a:r>
              <a:rPr lang="zh-CN" altLang="en-US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查询某个区间内所有数字的和</a:t>
            </a:r>
            <a:endParaRPr lang="zh-CN" altLang="en-US" sz="3600" b="0" i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/>
            <a:r>
              <a:rPr lang="zh-CN" altLang="en-US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如</a:t>
            </a:r>
            <a:r>
              <a:rPr lang="en-US" altLang="zh-CN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2 2 3</a:t>
            </a:r>
            <a:r>
              <a:rPr lang="zh-CN" altLang="en-US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表示要查询</a:t>
            </a:r>
            <a:r>
              <a:rPr lang="en-US" altLang="zh-CN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2-3</a:t>
            </a:r>
            <a:r>
              <a:rPr lang="zh-CN" altLang="en-US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区间内的数字和</a:t>
            </a:r>
            <a:endParaRPr lang="zh-CN" altLang="en-US" sz="3600" b="0" i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/>
            <a:endParaRPr lang="zh-CN" altLang="en-US" sz="4000" b="0" i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/>
            <a:r>
              <a:rPr lang="en-US" altLang="zh-CN" sz="40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n,q≤10</a:t>
            </a:r>
            <a:r>
              <a:rPr lang="en-US" altLang="zh-CN" sz="4000" b="0" i="0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5</a:t>
            </a:r>
            <a:endParaRPr lang="zh-CN" altLang="en-US" sz="4000" b="0" i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/>
            <a:endParaRPr lang="zh-CN" altLang="en-US" sz="4000" b="0" i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/>
            <a:endParaRPr lang="zh-CN" altLang="en-US" sz="4000" b="0" i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/>
            <a:endParaRPr lang="zh-CN" altLang="en-US" sz="4000" b="0" i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6515100"/>
            <a:ext cx="10767695" cy="29076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0" y="1866900"/>
            <a:ext cx="2959735" cy="24542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097000" y="4610100"/>
            <a:ext cx="30632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我线段树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秒了！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0" y="5524500"/>
            <a:ext cx="2504440" cy="25844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3010515" y="8115300"/>
            <a:ext cx="3895090" cy="1307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线段树又臭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又长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不想用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线段树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9" grpId="0"/>
      <p:bldP spid="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树状数组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600" y="3168015"/>
            <a:ext cx="14525625" cy="43922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树状数组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00" y="1943100"/>
            <a:ext cx="14984095" cy="7183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树状数组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790700"/>
            <a:ext cx="15846425" cy="7626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树状数组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0" y="1943100"/>
            <a:ext cx="15445740" cy="7455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树状数组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77482"/>
          <a:stretch>
            <a:fillRect/>
          </a:stretch>
        </p:blipFill>
        <p:spPr>
          <a:xfrm>
            <a:off x="1600200" y="5295900"/>
            <a:ext cx="14852650" cy="10629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76400" y="2400300"/>
            <a:ext cx="953262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>
                <a:sym typeface="+mn-ea"/>
              </a:rPr>
              <a:t>如何实现单点修改</a:t>
            </a:r>
            <a:r>
              <a:rPr lang="en-US" altLang="zh-CN" sz="5400">
                <a:sym typeface="+mn-ea"/>
              </a:rPr>
              <a:t>,</a:t>
            </a:r>
            <a:r>
              <a:rPr lang="zh-CN" altLang="en-US" sz="5400">
                <a:sym typeface="+mn-ea"/>
              </a:rPr>
              <a:t>区间查询</a:t>
            </a:r>
            <a:r>
              <a:rPr lang="en-US" altLang="zh-CN" sz="5400">
                <a:sym typeface="+mn-ea"/>
              </a:rPr>
              <a:t>?</a:t>
            </a:r>
            <a:endParaRPr lang="en-US" altLang="zh-CN" sz="54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52600" y="4152900"/>
            <a:ext cx="791273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>
                <a:sym typeface="+mn-ea"/>
              </a:rPr>
              <a:t>以</a:t>
            </a:r>
            <a:r>
              <a:rPr lang="en-US" altLang="zh-CN" sz="5400">
                <a:sym typeface="+mn-ea"/>
              </a:rPr>
              <a:t> </a:t>
            </a:r>
            <a:r>
              <a:rPr lang="zh-CN" altLang="en-US" sz="5400">
                <a:sym typeface="+mn-ea"/>
              </a:rPr>
              <a:t>以下</a:t>
            </a:r>
            <a:r>
              <a:rPr lang="en-US" altLang="zh-CN" sz="5400">
                <a:sym typeface="+mn-ea"/>
              </a:rPr>
              <a:t>16</a:t>
            </a:r>
            <a:r>
              <a:rPr lang="zh-CN" altLang="en-US" sz="5400">
                <a:sym typeface="+mn-ea"/>
              </a:rPr>
              <a:t>个元素为</a:t>
            </a:r>
            <a:r>
              <a:rPr lang="zh-CN" altLang="en-US" sz="5400">
                <a:sym typeface="+mn-ea"/>
              </a:rPr>
              <a:t>例子</a:t>
            </a:r>
            <a:endParaRPr lang="zh-CN" altLang="en-US" sz="540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树状数组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943100"/>
            <a:ext cx="14852650" cy="47205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00200" y="6972300"/>
            <a:ext cx="1223835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我们构造类似于树的结构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父节点的值是两个儿子节点的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和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那么如果我们要求前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15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个元素的和，就只需要求四个节点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就够了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76400" y="3011805"/>
            <a:ext cx="7179945" cy="6838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991600" y="3924300"/>
            <a:ext cx="3649980" cy="6838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2693650" y="4838700"/>
            <a:ext cx="1712595" cy="6838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4554200" y="5744845"/>
            <a:ext cx="823595" cy="7683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600200" y="8877300"/>
            <a:ext cx="141814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但是这是线段树的想法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树状数组使用了一个什么神奇的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操作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5" grpId="1" animBg="1"/>
      <p:bldP spid="6" grpId="1" animBg="1"/>
      <p:bldP spid="7" grpId="1" animBg="1"/>
      <p:bldP spid="9" grpId="1" animBg="1"/>
      <p:bldP spid="10" grpId="0"/>
      <p:bldP spid="10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>
                <a:sym typeface="+mn-ea"/>
              </a:rPr>
              <a:t>树状数组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943100"/>
            <a:ext cx="14852650" cy="47205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76400" y="6856095"/>
            <a:ext cx="148469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观察这个表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我们发现有限元素是根本不会被使用的，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比如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05200" y="4838700"/>
            <a:ext cx="1764665" cy="762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676400" y="7505700"/>
            <a:ext cx="148469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不管是计算前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2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个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前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3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个和时不能使用这个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数字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而在计算前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个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前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5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个和时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有更好的选择方案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(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选上面的数字更好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)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76400" y="8756650"/>
            <a:ext cx="148469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在这个表格中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这种没用的数据还有很多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我们一次性被他们都盖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起来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590800" y="5727700"/>
            <a:ext cx="727075" cy="762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334000" y="3924935"/>
            <a:ext cx="3499485" cy="762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419600" y="5753100"/>
            <a:ext cx="849630" cy="762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162800" y="4838700"/>
            <a:ext cx="1764665" cy="762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0820400" y="4838700"/>
            <a:ext cx="1764665" cy="762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4567535" y="4838700"/>
            <a:ext cx="1764665" cy="762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2725400" y="3924935"/>
            <a:ext cx="3499485" cy="762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9013190" y="3011170"/>
            <a:ext cx="7135495" cy="762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172200" y="5753100"/>
            <a:ext cx="849630" cy="762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8077200" y="5752465"/>
            <a:ext cx="849630" cy="762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9876155" y="5727700"/>
            <a:ext cx="849630" cy="762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11734800" y="5752465"/>
            <a:ext cx="849630" cy="762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3593445" y="5771515"/>
            <a:ext cx="849630" cy="762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15452090" y="5791200"/>
            <a:ext cx="849630" cy="762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  <p:bldP spid="6" grpId="0"/>
      <p:bldP spid="6" grpId="1"/>
      <p:bldP spid="7" grpId="0"/>
      <p:bldP spid="7" grpId="1"/>
      <p:bldP spid="9" grpId="0" animBg="1"/>
      <p:bldP spid="10" grpId="0" animBg="1"/>
      <p:bldP spid="11" grpId="0" animBg="1"/>
      <p:bldP spid="12" grpId="0" animBg="1"/>
      <p:bldP spid="21" grpId="0" animBg="1"/>
      <p:bldP spid="22" grpId="0" animBg="1"/>
      <p:bldP spid="23" grpId="0" animBg="1"/>
      <p:bldP spid="20" grpId="0" animBg="1"/>
      <p:bldP spid="19" grpId="0" animBg="1"/>
      <p:bldP spid="24" grpId="0" animBg="1"/>
      <p:bldP spid="25" grpId="0" animBg="1"/>
      <p:bldP spid="13" grpId="0" animBg="1"/>
      <p:bldP spid="26" grpId="0" animBg="1"/>
      <p:bldP spid="8" grpId="0" animBg="1"/>
      <p:bldP spid="9" grpId="1" animBg="1"/>
      <p:bldP spid="10" grpId="1" animBg="1"/>
      <p:bldP spid="11" grpId="1" animBg="1"/>
      <p:bldP spid="12" grpId="1" animBg="1"/>
      <p:bldP spid="21" grpId="1" animBg="1"/>
      <p:bldP spid="22" grpId="1" animBg="1"/>
      <p:bldP spid="23" grpId="1" animBg="1"/>
      <p:bldP spid="20" grpId="1" animBg="1"/>
      <p:bldP spid="19" grpId="1" animBg="1"/>
      <p:bldP spid="24" grpId="1" animBg="1"/>
      <p:bldP spid="25" grpId="1" animBg="1"/>
      <p:bldP spid="13" grpId="1" animBg="1"/>
      <p:bldP spid="26" grpId="1" animBg="1"/>
      <p:bldP spid="8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600" y="2019300"/>
            <a:ext cx="13258800" cy="42862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133600" y="6667500"/>
            <a:ext cx="13871575" cy="12452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我们惊讶的发现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所有层数中的第偶数个数字都是没有用的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因此我们把他去掉。得到上面这张图观察上面的数据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刚好是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n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个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元素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>
                <a:sym typeface="+mn-ea"/>
              </a:rPr>
              <a:t>树状数组</a:t>
            </a:r>
            <a:endParaRPr lang="zh-CN" altLang="en-US"/>
          </a:p>
        </p:txBody>
      </p:sp>
      <p:pic>
        <p:nvPicPr>
          <p:cNvPr id="4" name="20250117_222732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90700" y="1613535"/>
            <a:ext cx="14867255" cy="64763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>
                <a:sym typeface="+mn-ea"/>
              </a:rPr>
              <a:t>树状数组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600" y="1638300"/>
            <a:ext cx="13951585" cy="53378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209800" y="6972300"/>
            <a:ext cx="1359916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神奇的操作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我们将一颗树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变成了数组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每个数组中的元素代表的都是原数组的某个区间和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求和时我们只需要找到对应的区间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将区间相加就可以得到答案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了。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86000" y="8874125"/>
            <a:ext cx="136893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修改某个数据时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我们也只需要向上找到包含他的区间就可以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了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>
                <a:sym typeface="+mn-ea"/>
              </a:rPr>
              <a:t>树状数组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552700"/>
            <a:ext cx="5495290" cy="50673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010400" y="3619500"/>
            <a:ext cx="9144000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6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再神奇有什么用</a:t>
            </a:r>
            <a:r>
              <a:rPr lang="en-US" altLang="zh-CN" sz="6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6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要找到每个数对应的区间不还是很难写！！</a:t>
            </a:r>
            <a:endParaRPr lang="zh-CN" altLang="en-US" sz="6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391400" y="7810500"/>
            <a:ext cx="45466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别急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更神奇的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来了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0" y="5866130"/>
            <a:ext cx="3479800" cy="31635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1790700"/>
            <a:ext cx="13325475" cy="51149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981200" y="7505700"/>
            <a:ext cx="145237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观察树状数组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第一行数据的区间长度为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而他们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序号的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lowbit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正好为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47800" y="5886450"/>
            <a:ext cx="14401800" cy="1009650"/>
          </a:xfrm>
          <a:prstGeom prst="rect">
            <a:avLst/>
          </a:prstGeom>
          <a:noFill/>
          <a:ln w="762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752600" y="6057900"/>
            <a:ext cx="9144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38275" y="5143500"/>
            <a:ext cx="14401800" cy="770890"/>
          </a:xfrm>
          <a:prstGeom prst="rect">
            <a:avLst/>
          </a:prstGeom>
          <a:noFill/>
          <a:ln w="762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819275" y="5219065"/>
            <a:ext cx="9144000" cy="5480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2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81200" y="8267700"/>
            <a:ext cx="145548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第二行数据的区间长度为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2,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而他们序号的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lowbit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正好为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2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438275" y="4323715"/>
            <a:ext cx="14401800" cy="856615"/>
          </a:xfrm>
          <a:prstGeom prst="rect">
            <a:avLst/>
          </a:prstGeom>
          <a:noFill/>
          <a:ln w="762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819275" y="4399280"/>
            <a:ext cx="9144000" cy="5480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447800" y="3523615"/>
            <a:ext cx="14401800" cy="856615"/>
          </a:xfrm>
          <a:prstGeom prst="rect">
            <a:avLst/>
          </a:prstGeom>
          <a:noFill/>
          <a:ln w="762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828800" y="3599180"/>
            <a:ext cx="9144000" cy="5480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8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38275" y="2781300"/>
            <a:ext cx="14401800" cy="761365"/>
          </a:xfrm>
          <a:prstGeom prst="rect">
            <a:avLst/>
          </a:prstGeom>
          <a:noFill/>
          <a:ln w="762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752600" y="2874645"/>
            <a:ext cx="9144000" cy="5480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16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5" grpId="1" animBg="1"/>
      <p:bldP spid="6" grpId="1"/>
      <p:bldP spid="7" grpId="0" bldLvl="0" animBg="1"/>
      <p:bldP spid="8" grpId="0"/>
      <p:bldP spid="7" grpId="1" animBg="1"/>
      <p:bldP spid="8" grpId="1"/>
      <p:bldP spid="10" grpId="0" bldLvl="0" animBg="1"/>
      <p:bldP spid="11" grpId="0"/>
      <p:bldP spid="10" grpId="1" animBg="1"/>
      <p:bldP spid="11" grpId="1"/>
      <p:bldP spid="12" grpId="0" bldLvl="0" animBg="1"/>
      <p:bldP spid="13" grpId="0"/>
      <p:bldP spid="12" grpId="1" animBg="1"/>
      <p:bldP spid="13" grpId="1"/>
      <p:bldP spid="14" grpId="0" bldLvl="0" animBg="1"/>
      <p:bldP spid="15" grpId="0"/>
      <p:bldP spid="14" grpId="1" animBg="1"/>
      <p:bldP spid="15" grpId="1"/>
      <p:bldP spid="9" grpId="0"/>
      <p:bldP spid="9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1790700"/>
            <a:ext cx="13325475" cy="511492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9220200" y="4381500"/>
            <a:ext cx="3200400" cy="7734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514600" y="7124700"/>
            <a:ext cx="120523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以数组元素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a[12]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为例子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10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恰好就是该元素之前的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个元素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也就是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Lowbit(12)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个元素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之和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658600" y="1892300"/>
            <a:ext cx="789940" cy="77343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667000" y="8323580"/>
            <a:ext cx="1261491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这个规律对其他数组元素都适用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每个元素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i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都代表以该元素为结尾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lowbit(i)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个元素的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和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>
                <a:sym typeface="+mn-ea"/>
              </a:rPr>
              <a:t>树状数组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0800" y="1557655"/>
            <a:ext cx="13325475" cy="51149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362200" y="6819900"/>
            <a:ext cx="13828395" cy="2866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利用这个性质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我们将很轻松的得到任意区间的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和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如我们要计算前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14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个元素的和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(14)</a:t>
            </a:r>
            <a:r>
              <a:rPr lang="en-US" altLang="zh-CN" sz="3600" baseline="-25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2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=1110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14-lowbit(14) = 12 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此时我们就是要计算前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12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个元素的和加上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a[14]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就可以了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同理前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12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个元素的和也可以通过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lowbit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进行递归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最后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sum[14] = a[14] + a[12] +[8] 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endParaRPr lang="en-US" altLang="zh-CN" sz="3600" baseline="-250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>
                <a:sym typeface="+mn-ea"/>
              </a:rPr>
              <a:t>树状数组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66800" y="7429500"/>
            <a:ext cx="1596517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还有一个性质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那就是一个序列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a[i]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正上方的序列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正好就是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a[i+lowbit[i]]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所以我们在执行单点修改的时候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只需要不断的加上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lowbit(i),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并对找到的值进行修改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直到达到边界时停止就可以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了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0" y="2019300"/>
            <a:ext cx="14077950" cy="5314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>
                <a:sym typeface="+mn-ea"/>
              </a:rPr>
              <a:t>树状数组</a:t>
            </a:r>
            <a:endParaRPr lang="zh-CN" altLang="en-US"/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105400" y="1790700"/>
            <a:ext cx="703262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神奇的算法只需要最简单的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代码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900" y="4721860"/>
            <a:ext cx="5448300" cy="42291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933700"/>
            <a:ext cx="5393055" cy="49447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9600" y="2247900"/>
            <a:ext cx="5391150" cy="51244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514600" y="4000500"/>
            <a:ext cx="259207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lowbit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函数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153400" y="2400300"/>
            <a:ext cx="259207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修改函数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411200" y="1450340"/>
            <a:ext cx="259207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查询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函数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644650"/>
            <a:ext cx="2406015" cy="227965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1201400" y="8115300"/>
            <a:ext cx="631761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请注意每次查询得到的时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1-N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的和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对于某个区间的查询请回想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噗叽组知识点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前缀和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9" grpId="0"/>
      <p:bldP spid="9" grpId="1"/>
      <p:bldP spid="11" grpId="0"/>
      <p:bldP spid="11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>
                <a:sym typeface="+mn-ea"/>
              </a:rPr>
              <a:t>树状数组</a:t>
            </a:r>
            <a:r>
              <a:rPr lang="en-US" altLang="zh-CN">
                <a:sym typeface="+mn-ea"/>
              </a:rPr>
              <a:t>T1</a:t>
            </a:r>
            <a:endParaRPr lang="zh-CN" altLang="en-US"/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66800" y="4894580"/>
            <a:ext cx="1637728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7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请完成树状数组</a:t>
            </a:r>
            <a:r>
              <a:rPr lang="en-US" altLang="zh-CN" sz="7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1:</a:t>
            </a:r>
            <a:r>
              <a:rPr lang="zh-CN" altLang="en-US" sz="7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单点修改，区间查询</a:t>
            </a:r>
            <a:endParaRPr lang="zh-CN" altLang="en-US" sz="72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>
                <a:sym typeface="+mn-ea"/>
              </a:rPr>
              <a:t>树状数组</a:t>
            </a:r>
            <a:r>
              <a:rPr lang="en-US" altLang="zh-CN">
                <a:sym typeface="+mn-ea"/>
              </a:rPr>
              <a:t>T2</a:t>
            </a:r>
            <a:endParaRPr lang="en-US" altLang="zh-CN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2400300"/>
            <a:ext cx="11362690" cy="25736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962400" y="5676900"/>
            <a:ext cx="9144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7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区间修改，</a:t>
            </a:r>
            <a:r>
              <a:rPr lang="zh-CN" altLang="en-US" sz="7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单点查询</a:t>
            </a:r>
            <a:endParaRPr lang="zh-CN" altLang="en-US" sz="72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14800" y="7353300"/>
            <a:ext cx="9144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7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提示</a:t>
            </a:r>
            <a:r>
              <a:rPr lang="en-US" altLang="zh-CN" sz="7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: </a:t>
            </a:r>
            <a:r>
              <a:rPr lang="zh-CN" altLang="en-US" sz="7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利用</a:t>
            </a:r>
            <a:r>
              <a:rPr lang="zh-CN" altLang="en-US" sz="7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差分</a:t>
            </a:r>
            <a:endParaRPr lang="zh-CN" altLang="en-US" sz="72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树状数组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43400" y="1638300"/>
            <a:ext cx="9144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7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区间修改，单点查询</a:t>
            </a:r>
            <a:endParaRPr lang="zh-CN" altLang="en-US" sz="72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00200" y="2933700"/>
            <a:ext cx="136994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7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树状数组可以做到求</a:t>
            </a:r>
            <a:r>
              <a:rPr lang="en-US" altLang="zh-CN" sz="7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1-N</a:t>
            </a:r>
            <a:r>
              <a:rPr lang="zh-CN" altLang="en-US" sz="7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的</a:t>
            </a:r>
            <a:r>
              <a:rPr lang="zh-CN" altLang="en-US" sz="7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和</a:t>
            </a:r>
            <a:endParaRPr lang="zh-CN" altLang="en-US" sz="72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76400" y="4305300"/>
            <a:ext cx="1428305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7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我们令</a:t>
            </a:r>
            <a:r>
              <a:rPr lang="en-US" altLang="zh-CN" sz="4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b[1]=a[1]-a[0],b[2]=a[2]-a[1]</a:t>
            </a:r>
            <a:endParaRPr lang="en-US" altLang="zh-CN" sz="48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en-US" altLang="zh-CN" sz="4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     b[3]=a[3]-a[2].....</a:t>
            </a:r>
            <a:endParaRPr lang="en-US" altLang="zh-CN" sz="48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zh-CN" altLang="en-US" sz="4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我们发现当我们想查询单点值如</a:t>
            </a:r>
            <a:r>
              <a:rPr lang="en-US" altLang="zh-CN" sz="4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a[3]</a:t>
            </a:r>
            <a:r>
              <a:rPr lang="zh-CN" altLang="en-US" sz="4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时我们已</a:t>
            </a:r>
            <a:r>
              <a:rPr lang="zh-CN" altLang="en-US" sz="4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只要对</a:t>
            </a:r>
            <a:endParaRPr lang="zh-CN" altLang="en-US" sz="48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en-US" altLang="zh-CN" sz="4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b[1]-b[3]</a:t>
            </a:r>
            <a:r>
              <a:rPr lang="zh-CN" altLang="en-US" sz="4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求和就可以得到</a:t>
            </a:r>
            <a:r>
              <a:rPr lang="zh-CN" altLang="en-US" sz="4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答案</a:t>
            </a:r>
            <a:endParaRPr lang="zh-CN" altLang="en-US" sz="48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76400" y="8039100"/>
            <a:ext cx="1373886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4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通过这个性质我们考虑到使用</a:t>
            </a:r>
            <a:r>
              <a:rPr lang="en-US" altLang="zh-CN" sz="4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4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树状数组维护</a:t>
            </a:r>
            <a:r>
              <a:rPr lang="en-US" altLang="zh-CN" sz="4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b</a:t>
            </a:r>
            <a:r>
              <a:rPr lang="zh-CN" altLang="en-US" sz="4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数组</a:t>
            </a:r>
            <a:endParaRPr lang="zh-CN" altLang="en-US" sz="48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>
                <a:sym typeface="+mn-ea"/>
              </a:rPr>
              <a:t>树状数组</a:t>
            </a:r>
            <a:endParaRPr lang="zh-CN" altLang="en-US"/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648200" y="1714500"/>
            <a:ext cx="91440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7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单点查询做到了</a:t>
            </a:r>
            <a:r>
              <a:rPr lang="en-US" altLang="zh-CN" sz="7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endParaRPr lang="en-US" altLang="zh-CN" sz="72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zh-CN" altLang="en-US" sz="7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如何</a:t>
            </a:r>
            <a:r>
              <a:rPr lang="zh-CN" altLang="en-US" sz="7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做到区间修改？</a:t>
            </a:r>
            <a:endParaRPr lang="zh-CN" altLang="en-US" sz="72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4400" y="4305300"/>
            <a:ext cx="7003415" cy="2399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b[i] = a[i] - a[i-1]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b[i+1] = a[i+1] - a[i]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b[i+2] = a[i+2] - a[i+1]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如何让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a[i] 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到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a[i+2] 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整体加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？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763000" y="4076700"/>
            <a:ext cx="6677660" cy="24955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能给区间内所有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b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数组加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吗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b[i] = a[i] - a[i-1] + 1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b[i+1] = a[i+1] - a[i] + 1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b[i+2] = a[i+2] - a[i+1] + 1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40155" y="7200900"/>
            <a:ext cx="6677660" cy="1934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a[i] = a[i] + 1;</a:t>
            </a:r>
            <a:endParaRPr 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a[i+1] = a[i+1] + 2;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a[i+2] = a[i+2] + 3;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00800" y="7505700"/>
            <a:ext cx="275526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想一想差分的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思想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991600" y="6972300"/>
            <a:ext cx="6677660" cy="24955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只需要修改两个值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b[i] = b[i] + 1;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b[i+</a:t>
            </a:r>
            <a:r>
              <a:rPr lang="en-US" altLang="zh-CN" sz="3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] = b[i+4] -1;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树状数组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467100"/>
            <a:ext cx="6915150" cy="4953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38400" y="2247900"/>
            <a:ext cx="339344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优化掉</a:t>
            </a:r>
            <a:r>
              <a:rPr lang="en-US" altLang="zh-CN" sz="3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b</a:t>
            </a:r>
            <a:r>
              <a:rPr lang="zh-CN" altLang="en-US" sz="3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数组每次只记录两个值</a:t>
            </a:r>
            <a:endParaRPr lang="zh-CN" altLang="en-US" sz="32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3086100"/>
            <a:ext cx="5746115" cy="66141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896600" y="1866900"/>
            <a:ext cx="339344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利用差分维护单点修改的</a:t>
            </a:r>
            <a:r>
              <a:rPr lang="zh-CN" altLang="en-US" sz="3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正确性</a:t>
            </a:r>
            <a:endParaRPr lang="zh-CN" altLang="en-US" sz="32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综合</a:t>
            </a:r>
            <a:r>
              <a:rPr lang="zh-CN" altLang="en-US"/>
              <a:t>练习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05000" y="2933700"/>
            <a:ext cx="10856595" cy="37846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8000" b="0" i="0">
                <a:solidFill>
                  <a:srgbClr val="444444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课堂作业</a:t>
            </a:r>
            <a:endParaRPr lang="zh-CN" altLang="en-US" sz="8000" b="0" i="0">
              <a:solidFill>
                <a:srgbClr val="444444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8000" b="0" i="0">
                <a:solidFill>
                  <a:srgbClr val="444444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T3 星星</a:t>
            </a:r>
            <a:endParaRPr lang="en-US" altLang="zh-CN" sz="8000" b="0" i="0">
              <a:solidFill>
                <a:srgbClr val="444444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8000" b="0" i="0">
                <a:solidFill>
                  <a:srgbClr val="444444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T4 </a:t>
            </a:r>
            <a:r>
              <a:rPr lang="zh-CN" altLang="en-US" sz="8000" b="0" i="0">
                <a:solidFill>
                  <a:srgbClr val="444444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逆序对</a:t>
            </a:r>
            <a:endParaRPr lang="zh-CN" altLang="en-US" sz="8000" b="0" i="0">
              <a:solidFill>
                <a:srgbClr val="444444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逆序对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286000" y="1866900"/>
            <a:ext cx="13536930" cy="28613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逆序对概念</a:t>
            </a:r>
            <a:endParaRPr lang="zh-CN" altLang="en-US" sz="3600" b="0" i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/>
            <a:endParaRPr lang="en-US" altLang="zh-CN" sz="3600" b="0" i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/>
            <a:r>
              <a:rPr lang="zh-CN" altLang="en-US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对于</a:t>
            </a:r>
            <a:r>
              <a:rPr lang="en-US" altLang="zh-CN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(i&lt;j)</a:t>
            </a:r>
            <a:r>
              <a:rPr lang="zh-CN" altLang="en-US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但是</a:t>
            </a:r>
            <a:r>
              <a:rPr lang="en-US" altLang="zh-CN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A[i]&gt;A[j](</a:t>
            </a:r>
            <a:r>
              <a:rPr lang="zh-CN" altLang="en-US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左边的元素大于右边的元素</a:t>
            </a:r>
            <a:r>
              <a:rPr lang="en-US" altLang="zh-CN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)</a:t>
            </a:r>
            <a:r>
              <a:rPr lang="zh-CN" altLang="en-US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的数对。</a:t>
            </a:r>
            <a:r>
              <a:rPr lang="en-US" altLang="zh-CN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endParaRPr lang="en-US" altLang="zh-CN" sz="3600" b="0" i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/>
            <a:endParaRPr lang="en-US" altLang="zh-CN" sz="3600" b="0" i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/>
            <a:r>
              <a:rPr lang="zh-CN" altLang="en-US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找到所有</a:t>
            </a:r>
            <a:r>
              <a:rPr lang="zh-CN" altLang="en-US" sz="3600" b="0" i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逆序对</a:t>
            </a:r>
            <a:endParaRPr lang="zh-CN" altLang="en-US" sz="3600" b="0" i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57425" y="4991100"/>
            <a:ext cx="1333944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/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按照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1-n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的顺序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往树状数组里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add(a[i],1),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每次查询前面有</a:t>
            </a:r>
            <a:r>
              <a:rPr 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1-a[i]</a:t>
            </a:r>
            <a:endParaRPr lang="en-US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indent="0"/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有个数字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将这个数字假设为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x,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则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i-x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就是前面有几个数字大于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他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0" y="6362700"/>
            <a:ext cx="6760845" cy="31457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439400" y="7353300"/>
            <a:ext cx="338645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a[i]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太大了！！！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数组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装不下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9400" y="6515100"/>
            <a:ext cx="2922905" cy="2587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6" grpId="0"/>
      <p:bldP spid="6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>
                <a:sym typeface="+mn-ea"/>
              </a:rPr>
              <a:t>逆序对</a:t>
            </a:r>
            <a:endParaRPr lang="zh-CN" altLang="en-US"/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362200" y="1943100"/>
            <a:ext cx="1394841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转变一下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思路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我们需要的只是元素之间的相对大小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不需要真的往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tree[a[i]]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里面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塞。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例如数组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[1000000000,1000000002,1000000001]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其实我们要判断逆序对时候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利用他们的排名数组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[1,3,2]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他们本质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是一样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的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914900"/>
            <a:ext cx="4159885" cy="46685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372600" y="6438900"/>
            <a:ext cx="55867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这一步我们称之为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离散化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星星</a:t>
            </a:r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2776220" y="2068195"/>
            <a:ext cx="0" cy="69780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2761615" y="9046210"/>
            <a:ext cx="1180401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12115800" y="6819900"/>
            <a:ext cx="304800" cy="3048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4648200" y="6819900"/>
            <a:ext cx="304800" cy="3048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9601200" y="6819900"/>
            <a:ext cx="304800" cy="3048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7158990" y="5219700"/>
            <a:ext cx="304800" cy="3048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9601200" y="3467100"/>
            <a:ext cx="304800" cy="3048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173855" y="7277100"/>
            <a:ext cx="12534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(1,1)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067800" y="7353300"/>
            <a:ext cx="12534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(5,1)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658600" y="7353300"/>
            <a:ext cx="12534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(7,1)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684645" y="5676900"/>
            <a:ext cx="12534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(3,3)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20200" y="3848100"/>
            <a:ext cx="12534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(5,5)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2573000" y="2628900"/>
            <a:ext cx="436245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对于点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(X</a:t>
            </a:r>
            <a:r>
              <a:rPr lang="en-US" altLang="zh-CN" sz="3600" baseline="-25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i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,Y</a:t>
            </a:r>
            <a:r>
              <a:rPr lang="en-US" altLang="zh-CN" sz="3600" baseline="-25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i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)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的等级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就是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对于所有其他点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j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X</a:t>
            </a:r>
            <a:r>
              <a:rPr lang="en-US" altLang="zh-CN" sz="3600" baseline="-25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j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&lt;=X</a:t>
            </a:r>
            <a:r>
              <a:rPr lang="en-US" altLang="zh-CN" sz="3600" baseline="-25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i 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&amp;&amp; Y</a:t>
            </a:r>
            <a:r>
              <a:rPr lang="en-US" altLang="zh-CN" sz="3600" baseline="-25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j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&lt;=Y</a:t>
            </a:r>
            <a:r>
              <a:rPr lang="en-US" altLang="zh-CN" sz="3600" baseline="-25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i</a:t>
            </a:r>
            <a:endParaRPr lang="en-US" altLang="zh-CN" sz="3600" baseline="-250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的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数量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114800" y="6019800"/>
            <a:ext cx="15316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等级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0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553200" y="4504055"/>
            <a:ext cx="15316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等级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067800" y="2628900"/>
            <a:ext cx="15316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等级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3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067800" y="5905500"/>
            <a:ext cx="15316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等级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502390" y="6003290"/>
            <a:ext cx="15316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等级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2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>
                <a:sym typeface="+mn-ea"/>
              </a:rPr>
              <a:t>星星</a:t>
            </a:r>
            <a:endParaRPr lang="zh-CN" altLang="en-US"/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676400" y="1866900"/>
            <a:ext cx="1547685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对于式子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X</a:t>
            </a:r>
            <a:r>
              <a:rPr lang="en-US" altLang="zh-CN" sz="3600" baseline="-25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j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&lt;=X</a:t>
            </a:r>
            <a:r>
              <a:rPr lang="en-US" altLang="zh-CN" sz="3600" baseline="-25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i 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&amp;&amp; Y</a:t>
            </a:r>
            <a:r>
              <a:rPr lang="en-US" altLang="zh-CN" sz="3600" baseline="-25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j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&lt;=Y</a:t>
            </a:r>
            <a:r>
              <a:rPr lang="en-US" altLang="zh-CN" sz="3600" baseline="-25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i 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我们同时考虑两个值很难进行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考虑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因此我们考虑分开考虑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比如以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Y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值为第一维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以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X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为第二位进行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排序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这保证了后面的点一定比前面的点高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因此我们遍历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1-N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点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利用树状数组每次查询有多少个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X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值小于当前点的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X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值就可以得到该点的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答案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33600" y="6210300"/>
            <a:ext cx="1395349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注意观察题目给的坐标轴取值范围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树状数组每次都是取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Sum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是取</a:t>
            </a:r>
            <a:r>
              <a:rPr lang="en-US" altLang="zh-CN" sz="4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</a:t>
            </a:r>
            <a:r>
              <a:rPr lang="zh-CN" altLang="en-US" sz="4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号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节点到任意节点的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S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um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若有</a:t>
            </a:r>
            <a:r>
              <a:rPr lang="en-US" altLang="zh-CN" sz="4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0</a:t>
            </a:r>
            <a:r>
              <a:rPr lang="zh-CN" altLang="en-US" sz="4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点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怎么办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?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课堂小结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371600" y="1943100"/>
            <a:ext cx="1385887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你认为树状数组对比线段树有什么劣势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又有什么优势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?</a:t>
            </a:r>
            <a:endParaRPr lang="en-US" altLang="zh-CN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62200" y="2923540"/>
            <a:ext cx="9144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优势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: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树状数组代码长度小于线段树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         		 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空间占用比线段树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小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62200" y="4457700"/>
            <a:ext cx="9144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劣势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: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树状数组能实现的功能可以说是线段树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		 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的子集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         		 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4" grpId="1"/>
      <p:bldP spid="5" grpId="1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5.xml><?xml version="1.0" encoding="utf-8"?>
<p:tagLst xmlns:p="http://schemas.openxmlformats.org/presentationml/2006/main">
  <p:tag name="COMMONDATA" val="eyJoZGlkIjoiMDBmMTU4NGQ1MDk1ODFmNTM4MGExZThlOTZhNDFjZW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思源黑体 Heavy"/>
        <a:ea typeface="思源黑体 Heavy"/>
        <a:cs typeface=""/>
      </a:majorFont>
      <a:minorFont>
        <a:latin typeface="思源黑体 Normal"/>
        <a:ea typeface="思源黑体 Normal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2328</Words>
  <Application>WPS 演示</Application>
  <PresentationFormat>自定义</PresentationFormat>
  <Paragraphs>269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50" baseType="lpstr">
      <vt:lpstr>Arial</vt:lpstr>
      <vt:lpstr>宋体</vt:lpstr>
      <vt:lpstr>Wingdings</vt:lpstr>
      <vt:lpstr>思源黑体 1 Medium</vt:lpstr>
      <vt:lpstr>黑体</vt:lpstr>
      <vt:lpstr>思源黑体 2 Heavy</vt:lpstr>
      <vt:lpstr>思源黑体 2 Bold</vt:lpstr>
      <vt:lpstr>思源黑体 Medium</vt:lpstr>
      <vt:lpstr>思源黑体 2 Heavy</vt:lpstr>
      <vt:lpstr>思源黑体 Heavy</vt:lpstr>
      <vt:lpstr>思源黑体 2 Bold</vt:lpstr>
      <vt:lpstr>-apple-system</vt:lpstr>
      <vt:lpstr>Segoe Print</vt:lpstr>
      <vt:lpstr>楷体</vt:lpstr>
      <vt:lpstr>微软雅黑</vt:lpstr>
      <vt:lpstr>Arial Unicode MS</vt:lpstr>
      <vt:lpstr>思源黑体 Normal</vt:lpstr>
      <vt:lpstr>等线</vt:lpstr>
      <vt:lpstr>Office 主题​​</vt:lpstr>
      <vt:lpstr>树状数组</vt:lpstr>
      <vt:lpstr>PowerPoint 演示文稿</vt:lpstr>
      <vt:lpstr>树状数组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xyd-录播课ppt模板</dc:title>
  <dc:creator/>
  <cp:lastModifiedBy>江</cp:lastModifiedBy>
  <cp:revision>48</cp:revision>
  <dcterms:created xsi:type="dcterms:W3CDTF">2023-12-08T08:22:00Z</dcterms:created>
  <dcterms:modified xsi:type="dcterms:W3CDTF">2025-01-20T11:35:32Z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2930BC31422D4DDC88C5316E305AFAE5_13</vt:lpwstr>
  </property>
  <property fmtid="{D5CDD505-2E9C-101B-9397-08002B2CF9AE}" pid="3" name="KSOProductBuildVer">
    <vt:lpwstr>2052-12.1.0.19770</vt:lpwstr>
  </property>
</Properties>
</file>