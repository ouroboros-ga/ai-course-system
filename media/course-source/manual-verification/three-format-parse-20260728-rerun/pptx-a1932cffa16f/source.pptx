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17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409" r:id="rId3"/>
    <p:sldId id="408" r:id="rId4"/>
    <p:sldId id="258" r:id="rId5"/>
    <p:sldId id="395" r:id="rId6"/>
    <p:sldId id="396" r:id="rId7"/>
    <p:sldId id="405" r:id="rId8"/>
    <p:sldId id="397" r:id="rId9"/>
    <p:sldId id="398" r:id="rId10"/>
    <p:sldId id="399" r:id="rId11"/>
    <p:sldId id="401" r:id="rId12"/>
    <p:sldId id="400" r:id="rId13"/>
    <p:sldId id="402" r:id="rId14"/>
    <p:sldId id="403" r:id="rId15"/>
    <p:sldId id="404" r:id="rId16"/>
    <p:sldId id="406" r:id="rId17"/>
    <p:sldId id="407" r:id="rId18"/>
    <p:sldId id="345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1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2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gif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gif"/><Relationship Id="rId9" Type="http://schemas.openxmlformats.org/officeDocument/2006/relationships/image" Target="../media/image8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51" y="-601"/>
            <a:ext cx="7794714" cy="83494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47350" cy="834342"/>
          </a:xfrm>
          <a:prstGeom prst="rect">
            <a:avLst/>
          </a:prstGeom>
        </p:spPr>
      </p:pic>
      <p:sp>
        <p:nvSpPr>
          <p:cNvPr id="9" name="文本框 69"/>
          <p:cNvSpPr txBox="1"/>
          <p:nvPr userDrawn="1"/>
        </p:nvSpPr>
        <p:spPr>
          <a:xfrm>
            <a:off x="2591965" y="63228"/>
            <a:ext cx="3969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rgbClr val="0070C0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汽车构造</a:t>
            </a:r>
            <a:r>
              <a:rPr lang="en-US" altLang="zh-CN" sz="4000" b="1" dirty="0" smtClean="0">
                <a:solidFill>
                  <a:srgbClr val="0070C0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——</a:t>
            </a:r>
            <a:r>
              <a:rPr lang="zh-CN" altLang="en-US" sz="2800" b="0" dirty="0" smtClean="0">
                <a:solidFill>
                  <a:srgbClr val="FF0000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总论</a:t>
            </a:r>
            <a:endParaRPr lang="zh-CN" altLang="en-US" sz="4000" b="1" dirty="0">
              <a:solidFill>
                <a:srgbClr val="0070C0"/>
              </a:solidFill>
              <a:latin typeface="华文彩云" panose="02010800040101010101" pitchFamily="2" charset="-122"/>
              <a:ea typeface="华文彩云" panose="0201080004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552" y="0"/>
            <a:ext cx="881450" cy="834342"/>
          </a:xfrm>
          <a:prstGeom prst="rect">
            <a:avLst/>
          </a:prstGeom>
        </p:spPr>
      </p:pic>
      <p:pic>
        <p:nvPicPr>
          <p:cNvPr id="18" name="27 Imagen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168" y="6434404"/>
            <a:ext cx="363537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28 Imagen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843" y="6434404"/>
            <a:ext cx="363537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29 CuadroTexto"/>
          <p:cNvSpPr txBox="1">
            <a:spLocks noChangeArrowheads="1"/>
          </p:cNvSpPr>
          <p:nvPr userDrawn="1"/>
        </p:nvSpPr>
        <p:spPr bwMode="auto">
          <a:xfrm>
            <a:off x="4546942" y="6445517"/>
            <a:ext cx="3651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fld id="{7CF8A701-08A0-43AF-994A-C75F909246FF}" type="slidenum">
              <a:rPr lang="es-HN" altLang="zh-CN" sz="1200" b="1" baseline="0">
                <a:solidFill>
                  <a:srgbClr val="FFC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pPr algn="ctr">
                <a:defRPr/>
              </a:pPr>
              <a:t>‹#›</a:t>
            </a:fld>
            <a:endParaRPr lang="es-ES" altLang="zh-CN" sz="1200" b="1" baseline="0" dirty="0">
              <a:solidFill>
                <a:srgbClr val="FFC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21" name="30 CuadroTexto"/>
          <p:cNvSpPr txBox="1"/>
          <p:nvPr userDrawn="1"/>
        </p:nvSpPr>
        <p:spPr>
          <a:xfrm>
            <a:off x="4853205" y="6445517"/>
            <a:ext cx="312738" cy="2746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HN" sz="1200" b="1" i="1" baseline="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of</a:t>
            </a:r>
            <a:endParaRPr lang="es-ES" sz="1200" b="1" i="1" baseline="0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2" name="31 CuadroTexto"/>
          <p:cNvSpPr txBox="1"/>
          <p:nvPr userDrawn="1"/>
        </p:nvSpPr>
        <p:spPr>
          <a:xfrm>
            <a:off x="5140334" y="6454268"/>
            <a:ext cx="3385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s-ES" altLang="zh-CN" sz="1200" b="1" baseline="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17</a:t>
            </a:r>
            <a:endParaRPr lang="es-ES" altLang="zh-CN" sz="1200" b="1" baseline="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" name="Imagen 6" descr="C:\Users\Design\Documents\Edu\Product Launch\btns.png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6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0430" y="6515367"/>
            <a:ext cx="177800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Imagen 6" descr="C:\Users\Design\Documents\Edu\Product Launch\btns.png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7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805" y="6515367"/>
            <a:ext cx="176213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矩形 24"/>
          <p:cNvSpPr/>
          <p:nvPr userDrawn="1"/>
        </p:nvSpPr>
        <p:spPr>
          <a:xfrm>
            <a:off x="279027" y="640810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 smtClean="0">
                <a:solidFill>
                  <a:schemeClr val="tx2"/>
                </a:solidFill>
                <a:latin typeface="Times New Roman" pitchFamily="18" charset="0"/>
                <a:ea typeface="华文新魏" panose="02010800040101010101" pitchFamily="2" charset="-122"/>
                <a:cs typeface="Times New Roman" pitchFamily="18" charset="0"/>
              </a:rPr>
              <a:t>河北师范大学</a:t>
            </a:r>
            <a:endParaRPr lang="en-US" altLang="zh-CN" sz="1800" dirty="0" smtClean="0">
              <a:solidFill>
                <a:schemeClr val="tx2"/>
              </a:solidFill>
              <a:latin typeface="Times New Roman" pitchFamily="18" charset="0"/>
              <a:ea typeface="华文新魏" panose="02010800040101010101" pitchFamily="2" charset="-122"/>
              <a:cs typeface="Times New Roman" pitchFamily="18" charset="0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5926872" y="6398169"/>
            <a:ext cx="28151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E-mail</a:t>
            </a:r>
            <a:r>
              <a:rPr lang="zh-CN" altLang="en-US" sz="1800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hbsdxsk@163.com</a:t>
            </a:r>
            <a:endParaRPr lang="en-US" altLang="zh-CN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7" name="Picture 12" descr="first page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979" y="6402389"/>
            <a:ext cx="1028700" cy="36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5" descr="end page">
            <a:hlinkClick r:id="" action="ppaction://hlinkshowjump?jump=lastslide"/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809" y="6402389"/>
            <a:ext cx="998395" cy="371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14624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3D6A-467C-4A7E-AC7F-E84519021600}" type="datetimeFigureOut">
              <a:rPr lang="zh-CN" altLang="en-US" smtClean="0"/>
              <a:t>2021/2/16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980-B7CB-437C-89A6-F2F523E75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494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3D6A-467C-4A7E-AC7F-E84519021600}" type="datetimeFigureOut">
              <a:rPr lang="zh-CN" altLang="en-US" smtClean="0"/>
              <a:t>2021/2/16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980-B7CB-437C-89A6-F2F523E75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401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3D6A-467C-4A7E-AC7F-E84519021600}" type="datetimeFigureOut">
              <a:rPr lang="zh-CN" altLang="en-US" smtClean="0"/>
              <a:t>2021/2/16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980-B7CB-437C-89A6-F2F523E75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583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3D6A-467C-4A7E-AC7F-E84519021600}" type="datetimeFigureOut">
              <a:rPr lang="zh-CN" altLang="en-US" smtClean="0"/>
              <a:t>2021/2/16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980-B7CB-437C-89A6-F2F523E75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3D6A-467C-4A7E-AC7F-E84519021600}" type="datetimeFigureOut">
              <a:rPr lang="zh-CN" altLang="en-US" smtClean="0"/>
              <a:t>2021/2/16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980-B7CB-437C-89A6-F2F523E75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64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3D6A-467C-4A7E-AC7F-E84519021600}" type="datetimeFigureOut">
              <a:rPr lang="zh-CN" altLang="en-US" smtClean="0"/>
              <a:t>2021/2/16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980-B7CB-437C-89A6-F2F523E75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594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3D6A-467C-4A7E-AC7F-E84519021600}" type="datetimeFigureOut">
              <a:rPr lang="zh-CN" altLang="en-US" smtClean="0"/>
              <a:t>2021/2/16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980-B7CB-437C-89A6-F2F523E75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654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3D6A-467C-4A7E-AC7F-E84519021600}" type="datetimeFigureOut">
              <a:rPr lang="zh-CN" altLang="en-US" smtClean="0"/>
              <a:t>2021/2/16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980-B7CB-437C-89A6-F2F523E75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62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3D6A-467C-4A7E-AC7F-E84519021600}" type="datetimeFigureOut">
              <a:rPr lang="zh-CN" altLang="en-US" smtClean="0"/>
              <a:t>2021/2/16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980-B7CB-437C-89A6-F2F523E75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197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3D6A-467C-4A7E-AC7F-E84519021600}" type="datetimeFigureOut">
              <a:rPr lang="zh-CN" altLang="en-US" smtClean="0"/>
              <a:t>2021/2/16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980-B7CB-437C-89A6-F2F523E75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104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23D6A-467C-4A7E-AC7F-E84519021600}" type="datetimeFigureOut">
              <a:rPr lang="zh-CN" altLang="en-US" smtClean="0"/>
              <a:t>2021/2/16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76980-B7CB-437C-89A6-F2F523E75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65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4.xml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5" Type="http://schemas.openxmlformats.org/officeDocument/2006/relationships/slide" Target="slide15.xml"/><Relationship Id="rId4" Type="http://schemas.openxmlformats.org/officeDocument/2006/relationships/slide" Target="slide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book6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3" y="3382962"/>
            <a:ext cx="354012" cy="35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book6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3" y="5154612"/>
            <a:ext cx="354012" cy="354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763713" y="2349500"/>
            <a:ext cx="59039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3600" dirty="0" smtClean="0">
                <a:solidFill>
                  <a:srgbClr val="000000"/>
                </a:solidFill>
                <a:latin typeface="宋体" panose="02010600030101010101" pitchFamily="2" charset="-122"/>
                <a:hlinkClick r:id="rId3" action="ppaction://hlinksldjump"/>
              </a:rPr>
              <a:t>车辆识别代号编码</a:t>
            </a:r>
            <a:r>
              <a:rPr kumimoji="1" lang="zh-CN" altLang="en-US" sz="3600" b="0" dirty="0" smtClean="0">
                <a:latin typeface="Tahoma" panose="020B0604030504040204" pitchFamily="34" charset="0"/>
                <a:hlinkClick r:id="rId3" action="ppaction://hlinksldjump"/>
              </a:rPr>
              <a:t> </a:t>
            </a:r>
            <a:endParaRPr kumimoji="1" lang="zh-CN" altLang="en-US" sz="3600" b="0" dirty="0">
              <a:latin typeface="Times New Roman" panose="02020603050405020304" pitchFamily="18" charset="0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763713" y="3230562"/>
            <a:ext cx="576103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3600" dirty="0" smtClean="0">
                <a:solidFill>
                  <a:srgbClr val="000000"/>
                </a:solidFill>
                <a:latin typeface="宋体" panose="02010600030101010101" pitchFamily="2" charset="-122"/>
                <a:hlinkClick r:id="rId4" action="ppaction://hlinksldjump"/>
              </a:rPr>
              <a:t>国产汽车产品型号编制规则</a:t>
            </a:r>
            <a:r>
              <a:rPr kumimoji="1" lang="zh-CN" altLang="en-US" sz="3600" b="0" dirty="0" smtClean="0">
                <a:solidFill>
                  <a:srgbClr val="000000"/>
                </a:solidFill>
                <a:latin typeface="宋体" panose="02010600030101010101" pitchFamily="2" charset="-122"/>
                <a:hlinkClick r:id="" action="ppaction://noaction"/>
              </a:rPr>
              <a:t> </a:t>
            </a:r>
            <a:endParaRPr kumimoji="1" lang="zh-CN" altLang="en-US" sz="3600" b="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1801813" y="4972050"/>
            <a:ext cx="6299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3600" dirty="0" smtClean="0">
                <a:solidFill>
                  <a:srgbClr val="000000"/>
                </a:solidFill>
                <a:latin typeface="宋体" panose="02010600030101010101" pitchFamily="2" charset="-122"/>
                <a:hlinkClick r:id="rId5" action="ppaction://hlinksldjump"/>
              </a:rPr>
              <a:t>汽车行驶的基本原理</a:t>
            </a:r>
            <a:endParaRPr kumimoji="1" lang="zh-CN" altLang="en-US" sz="3600" b="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11" name="Picture 12" descr="book6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3" y="2501900"/>
            <a:ext cx="354012" cy="35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book6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3" y="4268787"/>
            <a:ext cx="354012" cy="35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1763713" y="4116387"/>
            <a:ext cx="63373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600" dirty="0" smtClean="0">
                <a:solidFill>
                  <a:srgbClr val="000000"/>
                </a:solidFill>
                <a:latin typeface="宋体" panose="02010600030101010101" pitchFamily="2" charset="-122"/>
                <a:hlinkClick r:id="rId6" action="ppaction://hlinksldjump"/>
              </a:rPr>
              <a:t>汽车的总体构造</a:t>
            </a:r>
            <a:r>
              <a:rPr kumimoji="1" lang="zh-CN" altLang="en-US" sz="3600" b="0" dirty="0" smtClean="0">
                <a:solidFill>
                  <a:srgbClr val="000000"/>
                </a:solidFill>
                <a:latin typeface="宋体" panose="02010600030101010101" pitchFamily="2" charset="-122"/>
                <a:hlinkClick r:id="" action="ppaction://noaction"/>
              </a:rPr>
              <a:t> </a:t>
            </a:r>
            <a:endParaRPr kumimoji="1" lang="zh-CN" altLang="en-US" sz="3600" b="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1763713" y="1468438"/>
            <a:ext cx="59039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3600" dirty="0" smtClean="0">
                <a:solidFill>
                  <a:srgbClr val="000000"/>
                </a:solidFill>
                <a:latin typeface="宋体" panose="02010600030101010101" pitchFamily="2" charset="-122"/>
                <a:hlinkClick r:id="rId7" action="ppaction://hlinksldjump"/>
              </a:rPr>
              <a:t>汽车的定义及分类</a:t>
            </a:r>
            <a:r>
              <a:rPr kumimoji="1" lang="zh-CN" altLang="en-US" sz="3600" b="0" dirty="0" smtClean="0">
                <a:latin typeface="Tahoma" panose="020B0604030504040204" pitchFamily="34" charset="0"/>
                <a:hlinkClick r:id="rId7" action="ppaction://hlinksldjump"/>
              </a:rPr>
              <a:t> </a:t>
            </a:r>
            <a:endParaRPr kumimoji="1" lang="zh-CN" altLang="en-US" sz="3600" b="0" dirty="0">
              <a:latin typeface="Times New Roman" panose="02020603050405020304" pitchFamily="18" charset="0"/>
            </a:endParaRPr>
          </a:p>
        </p:txBody>
      </p:sp>
      <p:pic>
        <p:nvPicPr>
          <p:cNvPr id="15" name="Picture 12" descr="book6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3" y="1620838"/>
            <a:ext cx="354012" cy="35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120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79617" y="1966635"/>
            <a:ext cx="876118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7495" algn="just"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zh-CN" altLang="zh-CN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◇</a:t>
            </a:r>
            <a:r>
              <a:rPr lang="zh-CN" altLang="en-US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了解汽车的定义及分类</a:t>
            </a:r>
            <a:r>
              <a:rPr lang="zh-CN" altLang="zh-CN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kern="100" dirty="0" smtClean="0">
              <a:solidFill>
                <a:schemeClr val="accent5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zh-CN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◇</a:t>
            </a:r>
            <a:r>
              <a:rPr lang="zh-CN" altLang="en-US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理解车辆识别代码用途</a:t>
            </a:r>
            <a:r>
              <a:rPr lang="zh-CN" altLang="en-US" sz="2800" b="1" kern="100" dirty="0">
                <a:solidFill>
                  <a:schemeClr val="accent5"/>
                </a:solidFill>
                <a:latin typeface="Times New Roman" panose="02020603050405020304" pitchFamily="18" charset="0"/>
              </a:rPr>
              <a:t>，掌握车辆识别</a:t>
            </a:r>
            <a:r>
              <a:rPr lang="zh-CN" altLang="en-US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代码内容</a:t>
            </a:r>
            <a:r>
              <a:rPr lang="zh-CN" altLang="zh-CN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kern="100" dirty="0" smtClean="0">
              <a:solidFill>
                <a:schemeClr val="accent5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zh-CN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◇</a:t>
            </a:r>
            <a:r>
              <a:rPr lang="zh-CN" altLang="en-US" sz="2800" b="1" kern="100" dirty="0">
                <a:solidFill>
                  <a:schemeClr val="accent5"/>
                </a:solidFill>
                <a:latin typeface="Times New Roman" panose="02020603050405020304" pitchFamily="18" charset="0"/>
              </a:rPr>
              <a:t>了解国产汽车产品型号编制规则</a:t>
            </a:r>
            <a:r>
              <a:rPr lang="zh-CN" altLang="zh-CN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kern="100" dirty="0" smtClean="0">
              <a:solidFill>
                <a:schemeClr val="accent5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zh-CN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◇</a:t>
            </a:r>
            <a:r>
              <a:rPr lang="zh-CN" altLang="en-US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掌握汽车的总体构造</a:t>
            </a:r>
            <a:r>
              <a:rPr lang="zh-CN" altLang="zh-CN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。</a:t>
            </a:r>
            <a:endParaRPr lang="en-US" altLang="zh-CN" sz="2800" b="1" kern="100" dirty="0" smtClean="0">
              <a:solidFill>
                <a:schemeClr val="accent5"/>
              </a:solidFill>
              <a:latin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zh-CN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◇</a:t>
            </a:r>
            <a:r>
              <a:rPr lang="zh-CN" altLang="en-US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理解汽车行驶的基本原理</a:t>
            </a:r>
            <a:r>
              <a:rPr lang="zh-CN" altLang="zh-CN" sz="2800" b="1" kern="100" dirty="0" smtClean="0">
                <a:solidFill>
                  <a:schemeClr val="accent5"/>
                </a:solidFill>
                <a:latin typeface="Times New Roman" panose="02020603050405020304" pitchFamily="18" charset="0"/>
              </a:rPr>
              <a:t>。</a:t>
            </a:r>
            <a:endParaRPr lang="zh-CN" altLang="zh-CN" sz="2800" b="1" kern="100" dirty="0">
              <a:solidFill>
                <a:schemeClr val="accent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9617" y="1118706"/>
            <a:ext cx="3777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知识目标</a:t>
            </a:r>
            <a:r>
              <a:rPr lang="en-US" altLang="zh-CN" sz="4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zh-CN" altLang="en-US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9753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190" y="2508686"/>
            <a:ext cx="5238750" cy="3924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76" y="1158963"/>
            <a:ext cx="4457357" cy="249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41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739" y="960051"/>
            <a:ext cx="42883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kern="1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一、</a:t>
            </a:r>
            <a:r>
              <a:rPr lang="zh-CN" altLang="en-US" sz="32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汽车的定义及分类</a:t>
            </a:r>
            <a:endParaRPr lang="zh-CN" altLang="en-US" sz="3200" kern="1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4738" y="2112995"/>
            <a:ext cx="87841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在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GB/T 3730.1—2001《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汽车和挂车类型的术语和定义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中，汽车的定义是：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动力驱动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，一般具有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个或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以上车轮的非轨道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承载车辆，主要用于</a:t>
            </a:r>
            <a:r>
              <a:rPr lang="zh-CN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载运人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、货物及其他的一些特殊用途。        </a:t>
            </a:r>
            <a:endParaRPr lang="zh-CN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7439" y="1531551"/>
            <a:ext cx="88184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kern="1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en-US" altLang="zh-CN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汽车的定义（</a:t>
            </a:r>
            <a:r>
              <a:rPr lang="zh-CN" altLang="en-US" sz="28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问题：汽车与火车、飞机、轮船区别</a:t>
            </a:r>
            <a:r>
              <a:rPr lang="zh-CN" altLang="en-US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2800" kern="1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2340" y="3952992"/>
            <a:ext cx="8784161" cy="3011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）国内汽车分类</a:t>
            </a:r>
            <a:endParaRPr lang="en-US" altLang="zh-CN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1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GB/T 3730.1—2001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中，将汽车按用途分为乘用车和商用车两大类。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①乘用车：在其设计和技术特性上主要用于载运乘客及其随身行李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和（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）临时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物品的汽车，包括驾驶员座位在内最多不超过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个座位。它也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可牵引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一辆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挂车（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具体分类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5041" y="3371548"/>
            <a:ext cx="23551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kern="1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en-US" altLang="zh-CN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汽车的</a:t>
            </a:r>
            <a:r>
              <a:rPr lang="zh-CN" altLang="en-US" sz="2800" kern="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分类</a:t>
            </a:r>
          </a:p>
        </p:txBody>
      </p:sp>
    </p:spTree>
    <p:extLst>
      <p:ext uri="{BB962C8B-B14F-4D97-AF65-F5344CB8AC3E}">
        <p14:creationId xmlns:p14="http://schemas.microsoft.com/office/powerpoint/2010/main" val="83737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12340" y="1037514"/>
            <a:ext cx="8784161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②商用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车：在设计和技术特性上用于运送人员和货物的汽车，并且可以牵引挂车，乘用车不包括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在内（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具体分类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2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GB/T 15089—2001《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机动车辆及挂车分类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中，按乘客座位数及汽车总质量将汽车分为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类、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类和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类（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简单了解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3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GB/T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9417—1988《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汽车产品型号编制规则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，将国产汽车分为轿车、客车、载货汽车、越野汽车、牵引汽车、自卸汽车、专用汽车和半挂车共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类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（分类标准已淘汰）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      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）轿车根据轴距大小分为微型轿车、小型轿车、紧凑型轿车、中型轿车、大中型轿车和豪华型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轿车（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简单了解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）国外汽车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分类（简单了解）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）德国奔驰汽车公司。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）德国大众汽车公司。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2340" y="1753130"/>
            <a:ext cx="87841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838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12340" y="1037514"/>
            <a:ext cx="8784161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3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）德国宝马汽车公司。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4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）德国奥迪汽车公司。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5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）日本汽车公司。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6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）美国轿车。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2340" y="1753130"/>
            <a:ext cx="87841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63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12340" y="1753130"/>
            <a:ext cx="87841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4739" y="973299"/>
            <a:ext cx="42883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kern="1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</a:t>
            </a:r>
            <a:r>
              <a:rPr lang="zh-CN" altLang="en-US" sz="32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车辆识别代码编号</a:t>
            </a:r>
            <a:endParaRPr lang="zh-CN" altLang="en-US" sz="3200" kern="1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4738" y="2126243"/>
            <a:ext cx="878416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车辆识别代码（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Vehicle Identification Number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VIN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）由一组字母和阿拉伯数字组成。共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位，又称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位识别代码编号（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类似居民身份证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（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汽车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管理。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（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）汽车维修。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）汽车检测。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）二手车交易。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）车辆保险。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）汽车召回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07439" y="1544799"/>
            <a:ext cx="12779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kern="1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en-US" altLang="zh-CN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用途</a:t>
            </a:r>
            <a:endParaRPr lang="zh-CN" altLang="en-US" sz="2800" kern="1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22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12340" y="1753130"/>
            <a:ext cx="87841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/>
          <a:srcRect b="15217"/>
          <a:stretch/>
        </p:blipFill>
        <p:spPr>
          <a:xfrm>
            <a:off x="194738" y="1974205"/>
            <a:ext cx="8733333" cy="3560897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207439" y="1001462"/>
            <a:ext cx="89365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kern="1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en-US" altLang="zh-CN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kern="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</a:t>
            </a:r>
            <a:r>
              <a:rPr lang="zh-CN" altLang="en-US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内容（</a:t>
            </a:r>
            <a:r>
              <a:rPr lang="zh-CN" altLang="en-US" sz="28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了解国内、外</a:t>
            </a:r>
            <a:r>
              <a:rPr lang="en-US" altLang="zh-CN" sz="28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VIN</a:t>
            </a:r>
            <a:r>
              <a:rPr lang="zh-CN" altLang="en-US" sz="28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码举例，知道</a:t>
            </a:r>
            <a:r>
              <a:rPr lang="en-US" altLang="zh-CN" sz="28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VIN</a:t>
            </a:r>
            <a:r>
              <a:rPr lang="zh-CN" altLang="en-US" sz="28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位置</a:t>
            </a:r>
            <a:r>
              <a:rPr lang="zh-CN" altLang="en-US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2800" kern="1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486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12340" y="1753130"/>
            <a:ext cx="87841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4738" y="1026311"/>
            <a:ext cx="8784161" cy="4873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（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）世界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制造厂识别代号（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WMI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三位字码组成：第一位字码是标明一个地理区域的字母或数字；第二位字码是标明一个特定地区内的一个国家的字母或数字；第三位字码是标明某个特定的制造厂的字母或数字。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）车辆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说明部分（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车辆说明部分（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）由六位字码组成（第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4~9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位）。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）车辆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指示部分（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第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位：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车型年份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（一般标识为车辆的出厂年份，是识别车辆的重要标识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）（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能够识别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第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位：车辆装配厂。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第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位：顺序号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79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12340" y="1753130"/>
            <a:ext cx="87841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554109"/>
              </p:ext>
            </p:extLst>
          </p:nvPr>
        </p:nvGraphicFramePr>
        <p:xfrm>
          <a:off x="478768" y="1968593"/>
          <a:ext cx="81280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年份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年份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年份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年份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代码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2031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2002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2012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2032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2033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2034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2035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2006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2016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2036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2007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2017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2027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2037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2008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2028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2038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2009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2029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2039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2030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2040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2749649" y="1214603"/>
            <a:ext cx="35862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车辆识别代号</a:t>
            </a:r>
            <a:r>
              <a:rPr lang="zh-CN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含义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649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12340" y="1753130"/>
            <a:ext cx="87841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2" descr="图1-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55" y="1451335"/>
            <a:ext cx="2664599" cy="1989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 descr="图1-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132" y="1451335"/>
            <a:ext cx="2650145" cy="1993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图1-2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51" y="3822879"/>
            <a:ext cx="2664599" cy="2068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 descr="图1-2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131" y="3831619"/>
            <a:ext cx="2743805" cy="2091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87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739" y="960051"/>
            <a:ext cx="88024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kern="100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</a:t>
            </a:r>
            <a:r>
              <a:rPr lang="zh-CN" altLang="en-US" sz="3200" kern="1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、国产</a:t>
            </a:r>
            <a:r>
              <a:rPr lang="zh-CN" altLang="en-US" sz="32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汽车产品型号编制规则（</a:t>
            </a:r>
            <a:r>
              <a:rPr lang="zh-CN" altLang="en-US" sz="32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标准已作废</a:t>
            </a:r>
            <a:r>
              <a:rPr lang="zh-CN" altLang="en-US" sz="32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3200" kern="1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2340" y="3502421"/>
            <a:ext cx="8784161" cy="2821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（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）企业名称代号。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）车辆类别代号。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）主参数代号。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）产品序号。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）专用汽车分类代号。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（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）企业自定代号。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801" y="1764914"/>
            <a:ext cx="5495238" cy="1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14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739" y="960051"/>
            <a:ext cx="88024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kern="1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四、</a:t>
            </a:r>
            <a:r>
              <a:rPr lang="zh-CN" altLang="en-US" sz="32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汽车的总体结构（</a:t>
            </a:r>
            <a:r>
              <a:rPr lang="zh-CN" altLang="en-US" sz="32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部件举例，理解并掌握</a:t>
            </a:r>
            <a:r>
              <a:rPr lang="zh-CN" altLang="en-US" sz="32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3200" kern="1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4738" y="2112995"/>
            <a:ext cx="87841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曲柄连杆机构、配气机构、燃料供给系统、冷却系统、润滑系统、点火系统（汽油发动机用）和起动系统。        </a:t>
            </a:r>
            <a:endParaRPr lang="zh-CN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7439" y="1531551"/>
            <a:ext cx="16369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kern="1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en-US" altLang="zh-CN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发动机</a:t>
            </a:r>
            <a:endParaRPr lang="zh-CN" altLang="en-US" sz="2800" kern="1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2340" y="3568681"/>
            <a:ext cx="878416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传动系统  主要由离合器、变速器、万向传动装置和驱动桥组成。</a:t>
            </a:r>
            <a:endParaRPr lang="en-US" altLang="zh-CN" sz="2400" b="1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）行驶系统  主要由车架、车桥、车轮和悬架组成。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）转向系统  主要由转向器和转向传动机构组成。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）制动系统  主要由制动器和制动传动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机构组成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        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5041" y="2987237"/>
            <a:ext cx="12779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kern="1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en-US" altLang="zh-CN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kern="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底盘</a:t>
            </a:r>
          </a:p>
        </p:txBody>
      </p:sp>
    </p:spTree>
    <p:extLst>
      <p:ext uri="{BB962C8B-B14F-4D97-AF65-F5344CB8AC3E}">
        <p14:creationId xmlns:p14="http://schemas.microsoft.com/office/powerpoint/2010/main" val="14243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94738" y="1569662"/>
            <a:ext cx="8784161" cy="1672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汽车电气设备：电源（发动机和蓄电池）、汽油发动机点火系统、起动系统、照明与信号装置、空调和仪表等。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汽车电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子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设备：发动机电控系统、底盘电控系统和车身电控系统等。</a:t>
            </a:r>
            <a:endParaRPr lang="zh-CN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07439" y="988218"/>
            <a:ext cx="30732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kern="1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en-US" altLang="zh-CN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电气和电子设备</a:t>
            </a:r>
            <a:endParaRPr lang="zh-CN" altLang="en-US" sz="2800" kern="1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12340" y="3833729"/>
            <a:ext cx="8784161" cy="933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轿车和客车一般有一个完整的车身。</a:t>
            </a:r>
            <a:endParaRPr lang="en-US" altLang="zh-CN" sz="2400" b="1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货车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车身由驾驶室和货箱（或封闭式货箱）组成。        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5041" y="3252285"/>
            <a:ext cx="12779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kern="1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en-US" altLang="zh-CN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kern="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车身</a:t>
            </a:r>
          </a:p>
        </p:txBody>
      </p:sp>
    </p:spTree>
    <p:extLst>
      <p:ext uri="{BB962C8B-B14F-4D97-AF65-F5344CB8AC3E}">
        <p14:creationId xmlns:p14="http://schemas.microsoft.com/office/powerpoint/2010/main" val="1073393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4739" y="960051"/>
            <a:ext cx="757130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kern="100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五</a:t>
            </a:r>
            <a:r>
              <a:rPr lang="zh-CN" altLang="en-US" sz="3200" kern="1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32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汽车行驶的</a:t>
            </a:r>
            <a:r>
              <a:rPr lang="zh-CN" altLang="en-US" sz="3200" kern="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基本原理</a:t>
            </a:r>
            <a:r>
              <a:rPr lang="zh-CN" altLang="en-US" sz="32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32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理解</a:t>
            </a:r>
            <a:r>
              <a:rPr lang="zh-CN" altLang="en-US" sz="32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并掌握</a:t>
            </a:r>
            <a:r>
              <a:rPr lang="zh-CN" altLang="en-US" sz="3200" kern="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  <a:p>
            <a:endParaRPr lang="zh-CN" altLang="en-US" sz="3200" kern="1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4738" y="2112995"/>
            <a:ext cx="87841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（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）驱动力（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问题：如何增大汽车的驱动力？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7439" y="1531551"/>
            <a:ext cx="3791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kern="1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en-US" altLang="zh-CN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汽车行驶的驱动条件</a:t>
            </a:r>
            <a:endParaRPr lang="zh-CN" altLang="en-US" sz="2800" kern="1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r="61035" b="12199"/>
          <a:stretch/>
        </p:blipFill>
        <p:spPr>
          <a:xfrm>
            <a:off x="3088112" y="2632884"/>
            <a:ext cx="2997411" cy="221603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245" y="5255355"/>
            <a:ext cx="1657143" cy="4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19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4738" y="1026317"/>
            <a:ext cx="8784161" cy="2349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（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）行驶阻力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1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）滚动阻力。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）坡度阻力。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3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）空气阻力。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4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）加速阻力。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/>
          <a:srcRect l="44122" b="12199"/>
          <a:stretch/>
        </p:blipFill>
        <p:spPr>
          <a:xfrm>
            <a:off x="3909392" y="1092980"/>
            <a:ext cx="4298390" cy="221603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722" y="4089620"/>
            <a:ext cx="3476190" cy="4761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0150" y="5279752"/>
            <a:ext cx="2733333" cy="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03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07439" y="988215"/>
            <a:ext cx="84593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kern="100" dirty="0" smtClean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en-US" altLang="zh-CN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汽车行驶的附着条件（</a:t>
            </a:r>
            <a:r>
              <a:rPr lang="zh-CN" altLang="en-US" sz="28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问题：</a:t>
            </a:r>
            <a:r>
              <a:rPr lang="zh-CN" altLang="en-US" sz="2800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如何让汽车不打滑</a:t>
            </a:r>
            <a:r>
              <a:rPr lang="zh-CN" altLang="en-US" sz="2800" kern="1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2800" kern="1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959" y="1790920"/>
            <a:ext cx="1685714" cy="58095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149" y="2651357"/>
            <a:ext cx="1333333" cy="5238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1552" y="4377516"/>
            <a:ext cx="3552381" cy="580952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94738" y="3544231"/>
            <a:ext cx="87841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汽车行驶的驱动附着条件：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475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Art 6"/>
          <p:cNvSpPr>
            <a:spLocks noChangeArrowheads="1" noChangeShapeType="1" noTextEdit="1"/>
          </p:cNvSpPr>
          <p:nvPr/>
        </p:nvSpPr>
        <p:spPr bwMode="auto">
          <a:xfrm>
            <a:off x="3230563" y="1992186"/>
            <a:ext cx="2174875" cy="15986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宋体" panose="02010600030101010101" pitchFamily="2" charset="-122"/>
              </a:rPr>
              <a:t>END</a:t>
            </a:r>
            <a:endParaRPr lang="zh-CN" alt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79" y="4089566"/>
            <a:ext cx="9139021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zh-CN" altLang="en-US" sz="6600" b="1" cap="none" spc="150" dirty="0" smtClean="0">
                <a:ln w="11430"/>
                <a:solidFill>
                  <a:srgbClr val="FF6699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华文隶书" pitchFamily="2" charset="-122"/>
                <a:ea typeface="华文隶书" pitchFamily="2" charset="-122"/>
              </a:rPr>
              <a:t>   请各位师生批评指正 ！</a:t>
            </a:r>
            <a:endParaRPr lang="zh-CN" altLang="en-US" sz="6600" b="1" cap="none" spc="150" dirty="0">
              <a:ln w="11430"/>
              <a:solidFill>
                <a:srgbClr val="FF6699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华文隶书" pitchFamily="2" charset="-122"/>
              <a:ea typeface="华文隶书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1236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672</TotalTime>
  <Words>1121</Words>
  <Application>Microsoft Office PowerPoint</Application>
  <PresentationFormat>全屏显示(4:3)</PresentationFormat>
  <Paragraphs>177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黑体</vt:lpstr>
      <vt:lpstr>华文彩云</vt:lpstr>
      <vt:lpstr>华文隶书</vt:lpstr>
      <vt:lpstr>华文新魏</vt:lpstr>
      <vt:lpstr>宋体</vt:lpstr>
      <vt:lpstr>微软雅黑</vt:lpstr>
      <vt:lpstr>Arial</vt:lpstr>
      <vt:lpstr>Calibri</vt:lpstr>
      <vt:lpstr>Calibri Light</vt:lpstr>
      <vt:lpstr>Tahoma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Lenovo</cp:lastModifiedBy>
  <cp:revision>71</cp:revision>
  <dcterms:created xsi:type="dcterms:W3CDTF">2019-05-02T06:46:45Z</dcterms:created>
  <dcterms:modified xsi:type="dcterms:W3CDTF">2021-02-16T08:37:25Z</dcterms:modified>
</cp:coreProperties>
</file>